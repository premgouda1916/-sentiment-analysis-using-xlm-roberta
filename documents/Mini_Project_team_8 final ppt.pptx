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4178" r:id="rId1"/>
  </p:sldMasterIdLst>
  <p:notesMasterIdLst>
    <p:notesMasterId r:id="rId26"/>
  </p:notesMasterIdLst>
  <p:sldIdLst>
    <p:sldId id="256" r:id="rId2"/>
    <p:sldId id="277" r:id="rId3"/>
    <p:sldId id="257" r:id="rId4"/>
    <p:sldId id="258" r:id="rId5"/>
    <p:sldId id="275" r:id="rId6"/>
    <p:sldId id="279" r:id="rId7"/>
    <p:sldId id="261" r:id="rId8"/>
    <p:sldId id="266" r:id="rId9"/>
    <p:sldId id="268" r:id="rId10"/>
    <p:sldId id="283" r:id="rId11"/>
    <p:sldId id="293" r:id="rId12"/>
    <p:sldId id="294" r:id="rId13"/>
    <p:sldId id="295" r:id="rId14"/>
    <p:sldId id="267" r:id="rId15"/>
    <p:sldId id="285" r:id="rId16"/>
    <p:sldId id="288" r:id="rId17"/>
    <p:sldId id="289" r:id="rId18"/>
    <p:sldId id="290" r:id="rId19"/>
    <p:sldId id="291" r:id="rId20"/>
    <p:sldId id="292" r:id="rId21"/>
    <p:sldId id="286" r:id="rId22"/>
    <p:sldId id="287" r:id="rId23"/>
    <p:sldId id="280" r:id="rId24"/>
    <p:sldId id="284" r:id="rId25"/>
  </p:sldIdLst>
  <p:sldSz cx="18288000" cy="10287000"/>
  <p:notesSz cx="18288000" cy="10287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601773-09CC-4665-82FD-0998131342BF}" v="3" dt="2025-11-26T17:01:42.804"/>
  </p1510:revLst>
</p1510:revInfo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43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43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B01971-F749-4F36-BDA9-E55BD82C52EB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8000" cy="3857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2C8836-2987-4403-9F59-4656DC96E7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428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C8836-2987-4403-9F59-4656DC96E7D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18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C8836-2987-4403-9F59-4656DC96E7D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07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83820" y="3771901"/>
            <a:ext cx="13373099" cy="3394172"/>
          </a:xfrm>
        </p:spPr>
        <p:txBody>
          <a:bodyPr anchor="b">
            <a:normAutofit/>
          </a:bodyPr>
          <a:lstStyle>
            <a:lvl1pPr>
              <a:defRPr sz="8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83820" y="7166069"/>
            <a:ext cx="13373099" cy="1689425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6485716"/>
            <a:ext cx="2616978" cy="1167884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7719" y="6794311"/>
            <a:ext cx="1169651" cy="547688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898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9388" y="936165"/>
            <a:ext cx="13367531" cy="19213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3818" y="3200400"/>
            <a:ext cx="13373100" cy="56664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6283" y="1071563"/>
            <a:ext cx="2382791" cy="76094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230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3819" y="3088125"/>
            <a:ext cx="13373099" cy="2203200"/>
          </a:xfrm>
        </p:spPr>
        <p:txBody>
          <a:bodyPr anchor="b"/>
          <a:lstStyle>
            <a:lvl1pPr algn="l">
              <a:defRPr sz="6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3819" y="5295194"/>
            <a:ext cx="13373099" cy="1290600"/>
          </a:xfrm>
        </p:spPr>
        <p:txBody>
          <a:bodyPr anchor="t"/>
          <a:lstStyle>
            <a:lvl1pPr marL="0" indent="0" algn="l">
              <a:buNone/>
              <a:defRPr sz="3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6283" y="4767263"/>
            <a:ext cx="2382791" cy="76094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7719" y="4866209"/>
            <a:ext cx="1169651" cy="547688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782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83818" y="3200400"/>
            <a:ext cx="6470796" cy="56664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786121" y="3189333"/>
            <a:ext cx="6470796" cy="56664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6283" y="1071563"/>
            <a:ext cx="2382791" cy="76094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7719" y="1181674"/>
            <a:ext cx="1169651" cy="547688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208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9060" y="2959055"/>
            <a:ext cx="5989098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83819" y="3823449"/>
            <a:ext cx="6514340" cy="503109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259944" y="2954213"/>
            <a:ext cx="5998502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750436" y="3818607"/>
            <a:ext cx="6508011" cy="503109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6283" y="1071563"/>
            <a:ext cx="2382791" cy="76094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7719" y="1181674"/>
            <a:ext cx="1169651" cy="547688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695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2575"/>
              </a:lnSpc>
            </a:pPr>
            <a:r>
              <a:rPr lang="en-IN" spc="120"/>
              <a:t>Department</a:t>
            </a:r>
            <a:r>
              <a:rPr lang="en-IN" spc="-30"/>
              <a:t> </a:t>
            </a:r>
            <a:r>
              <a:rPr lang="en-IN" spc="70"/>
              <a:t>of</a:t>
            </a:r>
            <a:r>
              <a:rPr lang="en-IN" spc="-25"/>
              <a:t> </a:t>
            </a:r>
            <a:r>
              <a:rPr lang="en-IN" spc="90"/>
              <a:t>ISE</a:t>
            </a:r>
            <a:endParaRPr lang="en-IN" spc="90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6283" y="1071563"/>
            <a:ext cx="2382791" cy="76094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575"/>
              </a:lnSpc>
            </a:pPr>
            <a:fld id="{81D60167-4931-47E6-BA6A-407CBD079E47}" type="slidenum">
              <a:rPr lang="en-IN" smtClean="0"/>
              <a:pPr marL="38100">
                <a:lnSpc>
                  <a:spcPts val="2575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273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6283" y="1071563"/>
            <a:ext cx="2382791" cy="76094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241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3819" y="669132"/>
            <a:ext cx="5257799" cy="1464468"/>
          </a:xfrm>
        </p:spPr>
        <p:txBody>
          <a:bodyPr anchor="b"/>
          <a:lstStyle>
            <a:lvl1pPr algn="l"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84518" y="669133"/>
            <a:ext cx="7772400" cy="812244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83819" y="2397920"/>
            <a:ext cx="5257799" cy="6393654"/>
          </a:xfrm>
        </p:spPr>
        <p:txBody>
          <a:bodyPr/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6283" y="1071563"/>
            <a:ext cx="2382791" cy="76094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350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3820" y="7200900"/>
            <a:ext cx="13373100" cy="85010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3818" y="952448"/>
            <a:ext cx="13373100" cy="578245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83820" y="8051007"/>
            <a:ext cx="13373100" cy="74056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6283" y="7367588"/>
            <a:ext cx="2382791" cy="76094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719" y="7474631"/>
            <a:ext cx="1169651" cy="547688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360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3819" y="914400"/>
            <a:ext cx="13373099" cy="4675560"/>
          </a:xfrm>
        </p:spPr>
        <p:txBody>
          <a:bodyPr anchor="ctr">
            <a:normAutofit/>
          </a:bodyPr>
          <a:lstStyle>
            <a:lvl1pPr algn="l">
              <a:defRPr sz="7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3819" y="6531069"/>
            <a:ext cx="13373099" cy="2333796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6283" y="4767263"/>
            <a:ext cx="2382791" cy="76094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7719" y="4866209"/>
            <a:ext cx="1169651" cy="547688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020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4924" y="914400"/>
            <a:ext cx="12590889" cy="4343400"/>
          </a:xfrm>
        </p:spPr>
        <p:txBody>
          <a:bodyPr anchor="ctr">
            <a:normAutofit/>
          </a:bodyPr>
          <a:lstStyle>
            <a:lvl1pPr algn="l">
              <a:defRPr sz="7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912518" y="5257800"/>
            <a:ext cx="11304831" cy="5715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3819" y="6531069"/>
            <a:ext cx="13373099" cy="2333796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6283" y="4767263"/>
            <a:ext cx="2382791" cy="76094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7719" y="4866209"/>
            <a:ext cx="1169651" cy="547688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701478" y="972008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72278" y="4357959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523864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3820" y="3657601"/>
            <a:ext cx="13373100" cy="4087268"/>
          </a:xfrm>
        </p:spPr>
        <p:txBody>
          <a:bodyPr anchor="b">
            <a:normAutofit/>
          </a:bodyPr>
          <a:lstStyle>
            <a:lvl1pPr algn="l"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83820" y="7772400"/>
            <a:ext cx="13373100" cy="109443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6283" y="7367588"/>
            <a:ext cx="2382791" cy="76094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719" y="7474631"/>
            <a:ext cx="1169651" cy="547688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678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274924" y="914400"/>
            <a:ext cx="12590889" cy="4343400"/>
          </a:xfrm>
        </p:spPr>
        <p:txBody>
          <a:bodyPr anchor="ctr">
            <a:normAutofit/>
          </a:bodyPr>
          <a:lstStyle>
            <a:lvl1pPr algn="l">
              <a:defRPr sz="7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883818" y="6515100"/>
            <a:ext cx="13373100" cy="12573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accent1"/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83820" y="7772400"/>
            <a:ext cx="13373100" cy="109443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6283" y="7367588"/>
            <a:ext cx="2382791" cy="76094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719" y="7474631"/>
            <a:ext cx="1169651" cy="547688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3701478" y="972008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72278" y="4357959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58110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3819" y="941111"/>
            <a:ext cx="13373099" cy="4320030"/>
          </a:xfrm>
        </p:spPr>
        <p:txBody>
          <a:bodyPr anchor="ctr">
            <a:normAutofit/>
          </a:bodyPr>
          <a:lstStyle>
            <a:lvl1pPr algn="l"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883818" y="6515100"/>
            <a:ext cx="13373100" cy="12573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accent1"/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83820" y="7772400"/>
            <a:ext cx="13373100" cy="109443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6283" y="7367588"/>
            <a:ext cx="2382791" cy="76094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719" y="7474631"/>
            <a:ext cx="1169651" cy="547688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1884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6283" y="1071563"/>
            <a:ext cx="2382791" cy="76094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0580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942219" y="941108"/>
            <a:ext cx="3311402" cy="7925726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83818" y="941108"/>
            <a:ext cx="9715500" cy="79257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6283" y="1071563"/>
            <a:ext cx="2382791" cy="76094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159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2" y="342900"/>
            <a:ext cx="4277274" cy="9957942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40832" y="236"/>
            <a:ext cx="3535011" cy="10279644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274320" cy="10287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89387" y="936165"/>
            <a:ext cx="13367531" cy="19213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3818" y="3200400"/>
            <a:ext cx="13373100" cy="5829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542419" y="9195656"/>
            <a:ext cx="1719425" cy="5555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83819" y="9203713"/>
            <a:ext cx="1142999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97719" y="1181674"/>
            <a:ext cx="1169651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084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9" r:id="rId1"/>
    <p:sldLayoutId id="2147484180" r:id="rId2"/>
    <p:sldLayoutId id="2147484181" r:id="rId3"/>
    <p:sldLayoutId id="2147484182" r:id="rId4"/>
    <p:sldLayoutId id="2147484183" r:id="rId5"/>
    <p:sldLayoutId id="2147484184" r:id="rId6"/>
    <p:sldLayoutId id="2147484185" r:id="rId7"/>
    <p:sldLayoutId id="2147484186" r:id="rId8"/>
    <p:sldLayoutId id="2147484187" r:id="rId9"/>
    <p:sldLayoutId id="2147484188" r:id="rId10"/>
    <p:sldLayoutId id="2147484189" r:id="rId11"/>
    <p:sldLayoutId id="2147484190" r:id="rId12"/>
    <p:sldLayoutId id="2147484191" r:id="rId13"/>
    <p:sldLayoutId id="2147484192" r:id="rId14"/>
    <p:sldLayoutId id="2147484193" r:id="rId15"/>
    <p:sldLayoutId id="2147484194" r:id="rId16"/>
  </p:sldLayoutIdLst>
  <p:txStyles>
    <p:titleStyle>
      <a:lvl1pPr algn="l" defTabSz="685800" rtl="0" eaLnBrk="1" latinLnBrk="0" hangingPunct="1">
        <a:spcBef>
          <a:spcPct val="0"/>
        </a:spcBef>
        <a:buNone/>
        <a:defRPr sz="54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14350" indent="-51435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714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400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30861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4569/IJACSA.2022.0130918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638" y="497894"/>
            <a:ext cx="1725189" cy="1143008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128776" y="283761"/>
            <a:ext cx="1815881" cy="1815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Rectangle 16"/>
          <p:cNvSpPr/>
          <p:nvPr/>
        </p:nvSpPr>
        <p:spPr>
          <a:xfrm>
            <a:off x="2428828" y="285716"/>
            <a:ext cx="1385897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YENEPOYA INSTITUTE OF TECHNOLOGY </a:t>
            </a:r>
          </a:p>
          <a:p>
            <a:pPr algn="ctr"/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NH-13, THODAR, MOODBIDRI, DAKSHINA KANNADA-574225 </a:t>
            </a:r>
          </a:p>
          <a:p>
            <a:pPr algn="ctr"/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2025-26 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572000" y="3000892"/>
            <a:ext cx="9144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Mini Project Presentation on 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79104" y="3958133"/>
            <a:ext cx="1576975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 “Developing XLM-</a:t>
            </a:r>
            <a:r>
              <a:rPr lang="en-US" sz="4000" b="1" dirty="0" err="1">
                <a:latin typeface="Times New Roman" pitchFamily="18" charset="0"/>
                <a:cs typeface="Times New Roman" pitchFamily="18" charset="0"/>
              </a:rPr>
              <a:t>RoBERTa</a:t>
            </a: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 Sentiment Analysis Model for Kannada: Addressing Low-Resource Language”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79104" y="6413389"/>
            <a:ext cx="9572692" cy="2246769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 algn="just"/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    PRESENTED BY : 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NAVEEN KATTI                        (4DM23IS031)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NIKITH N                                   (4DM23IS032)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PREM GOUDA                           (4DM23IS035)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SUMANTH T P                           (4DM23IS056)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930082" y="6423962"/>
            <a:ext cx="527881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UNDER THE GUIDANCE OF </a:t>
            </a:r>
          </a:p>
          <a:p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Prof. Manish Prajapati</a:t>
            </a:r>
          </a:p>
          <a:p>
            <a:pPr algn="ctr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Assistant Professor</a:t>
            </a:r>
          </a:p>
          <a:p>
            <a:pPr algn="ctr"/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Dept.of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ISE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21803" y="2169413"/>
            <a:ext cx="116443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Department of Information Science and Engineering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00530" y="0"/>
            <a:ext cx="100727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Table of contents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63280" y="2119164"/>
            <a:ext cx="5643602" cy="7368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4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Abstract</a:t>
            </a:r>
            <a:endParaRPr lang="en-US" sz="40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4000" spc="-229" dirty="0">
                <a:latin typeface="Times New Roman" panose="02020603050405020304"/>
                <a:cs typeface="Times New Roman" panose="02020603050405020304"/>
              </a:rPr>
              <a:t>   Introduction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4000" spc="-229" dirty="0">
                <a:latin typeface="Times New Roman" panose="02020603050405020304"/>
                <a:cs typeface="Times New Roman" panose="02020603050405020304"/>
              </a:rPr>
              <a:t>   </a:t>
            </a: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Literature Survey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  Problem Statement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4000" spc="-165" dirty="0">
                <a:latin typeface="Times New Roman" panose="02020603050405020304"/>
                <a:cs typeface="Times New Roman" panose="02020603050405020304"/>
              </a:rPr>
              <a:t>   Application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4000" spc="-165" dirty="0">
                <a:latin typeface="Times New Roman" panose="02020603050405020304"/>
                <a:cs typeface="Times New Roman" panose="02020603050405020304"/>
              </a:rPr>
              <a:t>   Methodology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4000" spc="-165" dirty="0">
                <a:latin typeface="Times New Roman" panose="02020603050405020304"/>
                <a:cs typeface="Times New Roman" panose="02020603050405020304"/>
              </a:rPr>
              <a:t>   System Requirements</a:t>
            </a:r>
          </a:p>
          <a:p>
            <a:pPr>
              <a:lnSpc>
                <a:spcPct val="150000"/>
              </a:lnSpc>
            </a:pPr>
            <a:endParaRPr lang="en-US" sz="4000" spc="-16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5195C0-EE29-E7B1-3A1B-B76E79DDA081}"/>
              </a:ext>
            </a:extLst>
          </p:cNvPr>
          <p:cNvSpPr txBox="1"/>
          <p:nvPr/>
        </p:nvSpPr>
        <p:spPr>
          <a:xfrm>
            <a:off x="9536909" y="2096324"/>
            <a:ext cx="7992888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lnSpc>
                <a:spcPct val="150000"/>
              </a:lnSpc>
              <a:buFont typeface="+mj-lt"/>
              <a:buAutoNum type="arabicPeriod" startAt="8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 startAt="8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&amp; Innovations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 startAt="8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Diagram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 startAt="8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Snapshot’s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 startAt="8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 startAt="8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Works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 startAt="8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  <a:p>
            <a:pPr marL="742950" indent="-742950">
              <a:lnSpc>
                <a:spcPct val="150000"/>
              </a:lnSpc>
              <a:buAutoNum type="arabicPeriod" startAt="8"/>
            </a:pPr>
            <a:endParaRPr lang="en-US" sz="4000" dirty="0"/>
          </a:p>
          <a:p>
            <a:endParaRPr lang="en-IN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651101"/>
            <a:ext cx="5791199" cy="63589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714448" y="2000228"/>
            <a:ext cx="14448155" cy="1960473"/>
          </a:xfrm>
          <a:prstGeom prst="rect">
            <a:avLst/>
          </a:prstGeom>
        </p:spPr>
        <p:txBody>
          <a:bodyPr vert="horz" wrap="square" lIns="0" tIns="222250" rIns="0" bIns="0" rtlCol="0">
            <a:spAutoFit/>
          </a:bodyPr>
          <a:lstStyle/>
          <a:p>
            <a:pPr marL="571500" indent="-571500" algn="just">
              <a:lnSpc>
                <a:spcPct val="150000"/>
              </a:lnSpc>
              <a:buFont typeface="Arial" pitchFamily="34" charset="0"/>
              <a:buChar char="•"/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lnSpc>
                <a:spcPct val="150000"/>
              </a:lnSpc>
              <a:buFont typeface="Arial" pitchFamily="34" charset="0"/>
              <a:buChar char="•"/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75"/>
              </a:lnSpc>
            </a:pPr>
            <a:r>
              <a:rPr spc="120" dirty="0"/>
              <a:t>Department</a:t>
            </a:r>
            <a:r>
              <a:rPr spc="-30" dirty="0"/>
              <a:t> </a:t>
            </a:r>
            <a:r>
              <a:rPr spc="70" dirty="0"/>
              <a:t>of</a:t>
            </a:r>
            <a:r>
              <a:rPr spc="-25" dirty="0"/>
              <a:t> </a:t>
            </a:r>
            <a:r>
              <a:rPr spc="90" dirty="0"/>
              <a:t>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2166" y="428592"/>
            <a:ext cx="426219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0" b="1" spc="-3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9000" b="1" spc="-509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9000" b="1" spc="-4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9000" b="1" spc="-5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9000" b="1" spc="-53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9000" b="1" spc="-55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9000" b="1" spc="-5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sz="9000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0A28C6-0B23-C06F-FC3A-8E8276E0AA49}"/>
              </a:ext>
            </a:extLst>
          </p:cNvPr>
          <p:cNvSpPr txBox="1"/>
          <p:nvPr/>
        </p:nvSpPr>
        <p:spPr>
          <a:xfrm>
            <a:off x="1303499" y="2402430"/>
            <a:ext cx="16036174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ZW" sz="3200" dirty="0"/>
              <a:t>The project implements </a:t>
            </a:r>
            <a:r>
              <a:rPr lang="en-ZW" sz="3200" b="1" dirty="0"/>
              <a:t>Emotion Recognition in Kannada</a:t>
            </a:r>
            <a:r>
              <a:rPr lang="en-ZW" sz="3200" dirty="0"/>
              <a:t> using advanced Deep Learning techniques.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ZW" sz="3200" b="1" dirty="0"/>
              <a:t>Emotions identified</a:t>
            </a:r>
            <a:r>
              <a:rPr lang="en-ZW" sz="3200" dirty="0"/>
              <a:t>: Joy, Anger, Sadness, Fear, and Neutral.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ZW" sz="3200" b="1" dirty="0"/>
              <a:t>Methodology</a:t>
            </a:r>
            <a:r>
              <a:rPr lang="en-ZW" sz="3200" dirty="0"/>
              <a:t>: Utilized </a:t>
            </a:r>
            <a:r>
              <a:rPr lang="en-ZW" sz="3200" b="1" dirty="0"/>
              <a:t>XLM-</a:t>
            </a:r>
            <a:r>
              <a:rPr lang="en-ZW" sz="3200" b="1" dirty="0" err="1"/>
              <a:t>RoBERTa</a:t>
            </a:r>
            <a:r>
              <a:rPr lang="en-ZW" sz="3200" dirty="0"/>
              <a:t>, a cross-lingual transformer model, fine-tuned on a balanced dataset of ~10,000 sentences.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ZW" sz="3200" b="1" dirty="0"/>
              <a:t>Key Techniques</a:t>
            </a:r>
            <a:r>
              <a:rPr lang="en-ZW" sz="3200" dirty="0"/>
              <a:t>: Employed </a:t>
            </a:r>
            <a:r>
              <a:rPr lang="en-ZW" sz="3200" b="1" dirty="0"/>
              <a:t>keyword-based augmentation</a:t>
            </a:r>
            <a:r>
              <a:rPr lang="en-ZW" sz="3200" dirty="0"/>
              <a:t> to improve detection of short, colloquial phrases.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ZW" sz="3200" b="1" dirty="0"/>
              <a:t>Deployment</a:t>
            </a:r>
            <a:r>
              <a:rPr lang="en-ZW" sz="3200" dirty="0"/>
              <a:t>: Integrated the model into a </a:t>
            </a:r>
            <a:r>
              <a:rPr lang="en-ZW" sz="3200" b="1" dirty="0"/>
              <a:t>Flask web application</a:t>
            </a:r>
            <a:r>
              <a:rPr lang="en-ZW" sz="3200" dirty="0"/>
              <a:t> for real-time user interaction and prediction.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ZW" sz="3200" b="1" dirty="0"/>
              <a:t>Performance</a:t>
            </a:r>
            <a:r>
              <a:rPr lang="en-ZW" sz="3200" dirty="0"/>
              <a:t>: Achieved high accuracy and robust performance across both long and short text inputs.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ZW" sz="3200" b="1" dirty="0"/>
              <a:t>Future Scope</a:t>
            </a:r>
            <a:r>
              <a:rPr lang="en-ZW" sz="3200" dirty="0"/>
              <a:t>: Expand dataset for dialect variations and include more complex emotion categories.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47056" y="1843258"/>
            <a:ext cx="17065896" cy="7337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ZW" sz="2800" b="1" dirty="0"/>
              <a:t>Emotion Recognition</a:t>
            </a:r>
            <a:r>
              <a:rPr lang="en-ZW" sz="2800" dirty="0"/>
              <a:t> is a key component of Natural Language Processing (NLP) for understanding human sentiment in text.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ZW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ZW" sz="2800" b="1" dirty="0"/>
              <a:t>Problem Statement</a:t>
            </a:r>
            <a:r>
              <a:rPr lang="en-ZW" sz="2800" dirty="0"/>
              <a:t>: Most NLP research focuses on English, leaving Indian languages like </a:t>
            </a:r>
            <a:r>
              <a:rPr lang="en-ZW" sz="2800" b="1" dirty="0"/>
              <a:t>Kannada</a:t>
            </a:r>
            <a:r>
              <a:rPr lang="en-ZW" sz="2800" dirty="0"/>
              <a:t> under-represented (low-resource).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ZW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ZW" sz="2800" b="1" dirty="0"/>
              <a:t>Challenge</a:t>
            </a:r>
            <a:r>
              <a:rPr lang="en-ZW" sz="2800" dirty="0"/>
              <a:t>: Lack of robust datasets and pre-trained models specifically designed for Kannada's complex morphology.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ZW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ZW" sz="2800" b="1" dirty="0"/>
              <a:t>Proposed Solution</a:t>
            </a:r>
            <a:r>
              <a:rPr lang="en-ZW" sz="2800" dirty="0"/>
              <a:t>: We leverage </a:t>
            </a:r>
            <a:r>
              <a:rPr lang="en-ZW" sz="2800" b="1" dirty="0"/>
              <a:t>XLM-</a:t>
            </a:r>
            <a:r>
              <a:rPr lang="en-ZW" sz="2800" b="1" dirty="0" err="1"/>
              <a:t>RoBERTa</a:t>
            </a:r>
            <a:r>
              <a:rPr lang="en-ZW" sz="2800" dirty="0"/>
              <a:t>, a state-of-the-art multilingual transformer, to bridge this gap.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ZW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ZW" sz="2800" b="1" dirty="0"/>
              <a:t>Core Objective</a:t>
            </a:r>
            <a:r>
              <a:rPr lang="en-ZW" sz="2800" dirty="0"/>
              <a:t>: To build an accurate, real-time system capable of classifying Kannada text into </a:t>
            </a:r>
            <a:r>
              <a:rPr lang="en-ZW" sz="2800" b="1" dirty="0"/>
              <a:t>Joy, Anger, Sadness, Fear, and Neutral</a:t>
            </a:r>
            <a:r>
              <a:rPr lang="en-ZW" sz="2800" dirty="0"/>
              <a:t>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ZW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ZW" sz="2800" b="1" dirty="0"/>
              <a:t>Applications</a:t>
            </a:r>
            <a:r>
              <a:rPr lang="en-ZW" sz="2800" dirty="0"/>
              <a:t>: Useful for </a:t>
            </a:r>
            <a:r>
              <a:rPr lang="en-ZW" sz="2800" dirty="0" err="1"/>
              <a:t>analyzing</a:t>
            </a:r>
            <a:r>
              <a:rPr lang="en-ZW" sz="2800" dirty="0"/>
              <a:t> social media sentiment, customer feedback, and mental health monitoring in regional languages.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11"/>
          </p:nvPr>
        </p:nvSpPr>
        <p:spPr>
          <a:xfrm>
            <a:off x="791072" y="9563577"/>
            <a:ext cx="10009298" cy="547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75"/>
              </a:lnSpc>
            </a:pPr>
            <a:r>
              <a:rPr spc="120" dirty="0"/>
              <a:t>Department</a:t>
            </a:r>
            <a:r>
              <a:rPr spc="-30" dirty="0"/>
              <a:t> </a:t>
            </a:r>
            <a:r>
              <a:rPr spc="70" dirty="0"/>
              <a:t>of</a:t>
            </a:r>
            <a:r>
              <a:rPr spc="-25" dirty="0"/>
              <a:t> </a:t>
            </a:r>
            <a:r>
              <a:rPr spc="90" dirty="0"/>
              <a:t>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75648" y="175735"/>
            <a:ext cx="609519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0" b="1" spc="-229" dirty="0">
                <a:solidFill>
                  <a:schemeClr val="accent1"/>
                </a:solidFill>
                <a:latin typeface="Times New Roman" panose="02020603050405020304"/>
                <a:cs typeface="Times New Roman" panose="02020603050405020304"/>
              </a:rPr>
              <a:t>Introduction</a:t>
            </a:r>
            <a:endParaRPr lang="en-US" sz="9000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5588000" y="4706938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000356" y="-162074"/>
            <a:ext cx="10134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6444B94-45C1-AC14-A9E9-0873BFDEA9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9899982"/>
              </p:ext>
            </p:extLst>
          </p:nvPr>
        </p:nvGraphicFramePr>
        <p:xfrm>
          <a:off x="1223120" y="1255068"/>
          <a:ext cx="16417824" cy="86633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08912">
                  <a:extLst>
                    <a:ext uri="{9D8B030D-6E8A-4147-A177-3AD203B41FA5}">
                      <a16:colId xmlns:a16="http://schemas.microsoft.com/office/drawing/2014/main" val="3757622350"/>
                    </a:ext>
                  </a:extLst>
                </a:gridCol>
                <a:gridCol w="8208912">
                  <a:extLst>
                    <a:ext uri="{9D8B030D-6E8A-4147-A177-3AD203B41FA5}">
                      <a16:colId xmlns:a16="http://schemas.microsoft.com/office/drawing/2014/main" val="151041022"/>
                    </a:ext>
                  </a:extLst>
                </a:gridCol>
              </a:tblGrid>
              <a:tr h="468270">
                <a:tc>
                  <a:txBody>
                    <a:bodyPr/>
                    <a:lstStyle/>
                    <a:p>
                      <a:r>
                        <a:rPr sz="2400" dirty="0"/>
                        <a:t>Reference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sz="2400"/>
                        <a:t>Project Relevance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81036033"/>
                  </a:ext>
                </a:extLst>
              </a:tr>
              <a:tr h="1177003">
                <a:tc>
                  <a:txBody>
                    <a:bodyPr/>
                    <a:lstStyle/>
                    <a:p>
                      <a:r>
                        <a:rPr sz="2400"/>
                        <a:t>Prof. Sushma T. M. et al. (2025)</a:t>
                      </a:r>
                    </a:p>
                    <a:p>
                      <a:r>
                        <a:rPr sz="2400"/>
                        <a:t>“Sentimental Analysis of Kannada Product Review Using BERT”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sz="2400"/>
                        <a:t>High accuracy for Kannada sentiment; useful for real‑time NLP.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4034391683"/>
                  </a:ext>
                </a:extLst>
              </a:tr>
              <a:tr h="1177003">
                <a:tc>
                  <a:txBody>
                    <a:bodyPr/>
                    <a:lstStyle/>
                    <a:p>
                      <a:r>
                        <a:rPr sz="2400"/>
                        <a:t>K. P. Suprith Patil et al. (2024)</a:t>
                      </a:r>
                    </a:p>
                    <a:p>
                      <a:r>
                        <a:rPr sz="2400"/>
                        <a:t>“Sentiment Analysis in Indian Regional Language (Kannada)”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sz="2400" dirty="0"/>
                        <a:t>Supports multi‑emotion Kannada analysis and preprocessing pipelines.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3090175953"/>
                  </a:ext>
                </a:extLst>
              </a:tr>
              <a:tr h="1177003">
                <a:tc>
                  <a:txBody>
                    <a:bodyPr/>
                    <a:lstStyle/>
                    <a:p>
                      <a:r>
                        <a:rPr sz="2400" dirty="0"/>
                        <a:t>Shashirekha H. L. et al. (2022)</a:t>
                      </a:r>
                    </a:p>
                    <a:p>
                      <a:r>
                        <a:rPr sz="2400" dirty="0"/>
                        <a:t>“ML Approaches for Code‑Mixed Kannada-English Text Identification”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sz="2400" dirty="0"/>
                        <a:t>Helps handle Kannada‑English mixed text for social media NLP.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487342068"/>
                  </a:ext>
                </a:extLst>
              </a:tr>
              <a:tr h="1177003">
                <a:tc>
                  <a:txBody>
                    <a:bodyPr/>
                    <a:lstStyle/>
                    <a:p>
                      <a:r>
                        <a:rPr sz="2400"/>
                        <a:t>Gazi Imtiyaz Ahmad et al. (2022)</a:t>
                      </a:r>
                    </a:p>
                    <a:p>
                      <a:r>
                        <a:rPr sz="2400"/>
                        <a:t>“ML Techniques for Sentiment Analysis of Code‑Mixed Text”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sz="2400"/>
                        <a:t>Provides ML/NLP technique comparisons for code‑mixed data.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626473878"/>
                  </a:ext>
                </a:extLst>
              </a:tr>
              <a:tr h="1177003">
                <a:tc>
                  <a:txBody>
                    <a:bodyPr/>
                    <a:lstStyle/>
                    <a:p>
                      <a:r>
                        <a:rPr sz="2400"/>
                        <a:t>Mariana Purba et al. (2022)</a:t>
                      </a:r>
                    </a:p>
                    <a:p>
                      <a:r>
                        <a:rPr sz="2400"/>
                        <a:t>“Effect of Random Splitting &amp; Cross‑Validation”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sz="2400"/>
                        <a:t>Shows need for proper validation for reliable sentiment/emotion models.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851301656"/>
                  </a:ext>
                </a:extLst>
              </a:tr>
              <a:tr h="822637">
                <a:tc>
                  <a:txBody>
                    <a:bodyPr/>
                    <a:lstStyle/>
                    <a:p>
                      <a:r>
                        <a:rPr sz="2400"/>
                        <a:t>Alebachew Chiche &amp; Betselet Yitagesu (2022)</a:t>
                      </a:r>
                    </a:p>
                    <a:p>
                      <a:r>
                        <a:rPr sz="2400"/>
                        <a:t>“Review of ML/DL POS Tagging”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sz="2400"/>
                        <a:t>Improves text preprocessing quality for downstream NLP tasks.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480471947"/>
                  </a:ext>
                </a:extLst>
              </a:tr>
              <a:tr h="1177003">
                <a:tc>
                  <a:txBody>
                    <a:bodyPr/>
                    <a:lstStyle/>
                    <a:p>
                      <a:r>
                        <a:rPr sz="2400"/>
                        <a:t>Ramesh Chundi et al. (2020)</a:t>
                      </a:r>
                    </a:p>
                    <a:p>
                      <a:r>
                        <a:rPr sz="2400"/>
                        <a:t>“Sentiment Analysis for Code‑Switch Kannada Text”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sz="2400" dirty="0"/>
                        <a:t>Demonstrates deep learning for Kannada code‑switch; motivates multilingual models.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801572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5288" y="1039044"/>
            <a:ext cx="13367531" cy="1921335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Problem Statement </a:t>
            </a:r>
            <a:endParaRPr lang="en-IN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53731" y="2767236"/>
            <a:ext cx="15530643" cy="5542704"/>
          </a:xfrm>
        </p:spPr>
        <p:txBody>
          <a:bodyPr>
            <a:normAutofit/>
          </a:bodyPr>
          <a:lstStyle/>
          <a:p>
            <a:r>
              <a:rPr lang="en-ZW" sz="2800" b="1" dirty="0"/>
              <a:t>English Bias: </a:t>
            </a:r>
            <a:r>
              <a:rPr lang="en-ZW" sz="2800" dirty="0"/>
              <a:t>Most current AI tools only understand English well and fail with regional languages like Kannada.</a:t>
            </a:r>
          </a:p>
          <a:p>
            <a:r>
              <a:rPr lang="en-ZW" sz="2800" b="1" dirty="0"/>
              <a:t>Lack of Data: </a:t>
            </a:r>
            <a:r>
              <a:rPr lang="en-ZW" sz="2800" dirty="0"/>
              <a:t>There isn't enough high-quality data available to teach computers how to understand Kannada emotions.</a:t>
            </a:r>
          </a:p>
          <a:p>
            <a:r>
              <a:rPr lang="en-ZW" sz="2800" b="1" dirty="0"/>
              <a:t>Complex Grammar: </a:t>
            </a:r>
            <a:r>
              <a:rPr lang="en-ZW" sz="2800" dirty="0"/>
              <a:t>Kannada is a complex language, and simple translation methods often get the meaning wrong.</a:t>
            </a:r>
          </a:p>
          <a:p>
            <a:r>
              <a:rPr lang="en-ZW" sz="2800" b="1" dirty="0"/>
              <a:t>Lost in Translation:</a:t>
            </a:r>
            <a:r>
              <a:rPr lang="en-ZW" sz="2800" dirty="0"/>
              <a:t> Converting Kannada to English for analysis loses the true feeling and cultural context of the message.</a:t>
            </a:r>
          </a:p>
          <a:p>
            <a:r>
              <a:rPr lang="en-ZW" sz="2800" b="1" dirty="0"/>
              <a:t>The Need: </a:t>
            </a:r>
            <a:r>
              <a:rPr lang="en-ZW" sz="2800" dirty="0"/>
              <a:t>We need a specific tool built for Kannada to accurately understand the feelings of millions of native speakers.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95BEC4-81E9-D187-FF04-F9497249A41F}"/>
              </a:ext>
            </a:extLst>
          </p:cNvPr>
          <p:cNvSpPr txBox="1"/>
          <p:nvPr/>
        </p:nvSpPr>
        <p:spPr>
          <a:xfrm>
            <a:off x="1727176" y="9752012"/>
            <a:ext cx="9144000" cy="396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ts val="2575"/>
              </a:lnSpc>
            </a:pPr>
            <a:r>
              <a:rPr lang="en-US" spc="120" dirty="0"/>
              <a:t>Department</a:t>
            </a:r>
            <a:r>
              <a:rPr lang="en-US" spc="-30" dirty="0"/>
              <a:t> </a:t>
            </a:r>
            <a:r>
              <a:rPr lang="en-US" spc="70" dirty="0"/>
              <a:t>of</a:t>
            </a:r>
            <a:r>
              <a:rPr lang="en-US" spc="-25" dirty="0"/>
              <a:t> </a:t>
            </a:r>
            <a:r>
              <a:rPr lang="en-US" spc="90" dirty="0"/>
              <a:t>ISE</a:t>
            </a:r>
          </a:p>
        </p:txBody>
      </p:sp>
    </p:spTree>
    <p:extLst>
      <p:ext uri="{BB962C8B-B14F-4D97-AF65-F5344CB8AC3E}">
        <p14:creationId xmlns:p14="http://schemas.microsoft.com/office/powerpoint/2010/main" val="722348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571500" y="2191672"/>
            <a:ext cx="17145000" cy="5668851"/>
          </a:xfrm>
          <a:prstGeom prst="rect">
            <a:avLst/>
          </a:prstGeom>
        </p:spPr>
        <p:txBody>
          <a:bodyPr vert="horz" wrap="square" lIns="0" tIns="737227" rIns="0" bIns="0" rtlCol="0">
            <a:spAutoFit/>
          </a:bodyPr>
          <a:lstStyle/>
          <a:p>
            <a:r>
              <a:rPr lang="en-ZW" b="1" dirty="0"/>
              <a:t>Social Media Monitoring</a:t>
            </a:r>
            <a:r>
              <a:rPr lang="en-ZW" dirty="0"/>
              <a:t>: Automatically tracking public sentiment and trends on platforms like Twitter and Facebook by </a:t>
            </a:r>
            <a:r>
              <a:rPr lang="en-ZW" dirty="0" err="1"/>
              <a:t>analyzing</a:t>
            </a:r>
            <a:r>
              <a:rPr lang="en-ZW" dirty="0"/>
              <a:t> Kannada posts and comments.</a:t>
            </a:r>
          </a:p>
          <a:p>
            <a:r>
              <a:rPr lang="en-ZW" b="1" dirty="0"/>
              <a:t>Customer Feedback Analysis</a:t>
            </a:r>
            <a:r>
              <a:rPr lang="en-ZW" dirty="0"/>
              <a:t>: Helping businesses understand customer satisfaction by classifying reviews and support tickets into emotions like Anger (complaints) or Joy (praise).</a:t>
            </a:r>
          </a:p>
          <a:p>
            <a:r>
              <a:rPr lang="en-ZW" b="1" dirty="0"/>
              <a:t>Mental Health Support</a:t>
            </a:r>
            <a:r>
              <a:rPr lang="en-ZW" dirty="0"/>
              <a:t>: Early detection of distress or depression signals in chat logs and digital journals to trigger timely interventions.</a:t>
            </a:r>
          </a:p>
          <a:p>
            <a:r>
              <a:rPr lang="en-ZW" b="1" dirty="0"/>
              <a:t>Content Moderation</a:t>
            </a:r>
            <a:r>
              <a:rPr lang="en-ZW" dirty="0"/>
              <a:t>: Identifying and filtering out toxic, aggressive, or hateful content (Anger/Fear) in online communities and forums.</a:t>
            </a:r>
          </a:p>
          <a:p>
            <a:r>
              <a:rPr lang="en-ZW" b="1" dirty="0"/>
              <a:t>Personalized Recommendations</a:t>
            </a:r>
            <a:r>
              <a:rPr lang="en-ZW" dirty="0"/>
              <a:t>: Tailoring content (news, music, videos) based on the user's detected emotional state to improve engagement.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xfrm>
            <a:off x="1367136" y="9389208"/>
            <a:ext cx="10009298" cy="547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75"/>
              </a:lnSpc>
            </a:pPr>
            <a:r>
              <a:rPr spc="120" dirty="0"/>
              <a:t>Department</a:t>
            </a:r>
            <a:r>
              <a:rPr spc="-30" dirty="0"/>
              <a:t> </a:t>
            </a:r>
            <a:r>
              <a:rPr spc="70" dirty="0"/>
              <a:t>of</a:t>
            </a:r>
            <a:r>
              <a:rPr spc="-25" dirty="0"/>
              <a:t> </a:t>
            </a:r>
            <a:r>
              <a:rPr spc="90" dirty="0"/>
              <a:t>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728" y="714344"/>
            <a:ext cx="572272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0" b="1" spc="-165" dirty="0">
                <a:solidFill>
                  <a:schemeClr val="accent1"/>
                </a:solidFill>
                <a:latin typeface="Times New Roman" panose="02020603050405020304"/>
                <a:cs typeface="Times New Roman" panose="02020603050405020304"/>
              </a:rPr>
              <a:t>Application</a:t>
            </a:r>
            <a:endParaRPr lang="en-US" sz="9000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ftr" sz="quarter" idx="11"/>
          </p:nvPr>
        </p:nvSpPr>
        <p:spPr>
          <a:xfrm>
            <a:off x="1285820" y="9441688"/>
            <a:ext cx="10009298" cy="547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75"/>
              </a:lnSpc>
            </a:pPr>
            <a:r>
              <a:rPr spc="120" dirty="0"/>
              <a:t>Department</a:t>
            </a:r>
            <a:r>
              <a:rPr spc="-30" dirty="0"/>
              <a:t> </a:t>
            </a:r>
            <a:r>
              <a:rPr spc="70" dirty="0"/>
              <a:t>of</a:t>
            </a:r>
            <a:r>
              <a:rPr spc="-25" dirty="0"/>
              <a:t> </a:t>
            </a:r>
            <a:r>
              <a:rPr spc="90" dirty="0"/>
              <a:t>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5820" y="2285980"/>
            <a:ext cx="158496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ZW" sz="2800" b="1" dirty="0"/>
              <a:t>Data Collection</a:t>
            </a:r>
            <a:r>
              <a:rPr lang="en-ZW" sz="2800" dirty="0"/>
              <a:t>: Curated a balanced dataset of </a:t>
            </a:r>
            <a:r>
              <a:rPr lang="en-ZW" sz="2800" b="1" dirty="0"/>
              <a:t>10,000 Kannada sentences</a:t>
            </a:r>
            <a:r>
              <a:rPr lang="en-ZW" sz="2800" dirty="0"/>
              <a:t>, distributed equally across 5 emotion classes (2,000 per class).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ZW" sz="2800" b="1" dirty="0"/>
              <a:t>Preprocessing</a:t>
            </a:r>
            <a:r>
              <a:rPr lang="en-ZW" sz="2800" dirty="0"/>
              <a:t>: Applied text cleaning to remove noise (e.g., Zero Width Joiners) and tokenized inputs using the </a:t>
            </a:r>
            <a:r>
              <a:rPr lang="en-ZW" sz="2800" b="1" dirty="0"/>
              <a:t>XLM-</a:t>
            </a:r>
            <a:r>
              <a:rPr lang="en-ZW" sz="2800" b="1" dirty="0" err="1"/>
              <a:t>RoBERTa</a:t>
            </a:r>
            <a:r>
              <a:rPr lang="en-ZW" sz="2800" b="1" dirty="0"/>
              <a:t> tokenizer</a:t>
            </a:r>
            <a:r>
              <a:rPr lang="en-ZW" sz="2800" dirty="0"/>
              <a:t>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ZW" sz="2800" b="1" dirty="0"/>
              <a:t>Data Augmentation</a:t>
            </a:r>
            <a:r>
              <a:rPr lang="en-ZW" sz="2800" dirty="0"/>
              <a:t>: Implemented </a:t>
            </a:r>
            <a:r>
              <a:rPr lang="en-ZW" sz="2800" b="1" dirty="0"/>
              <a:t>keyword-based augmentation</a:t>
            </a:r>
            <a:r>
              <a:rPr lang="en-ZW" sz="2800" dirty="0"/>
              <a:t> to generate synthetic short sentences, addressing model bias and improving robustness on brief inputs.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ZW" sz="2800" b="1" dirty="0"/>
              <a:t>Model Architecture</a:t>
            </a:r>
            <a:r>
              <a:rPr lang="en-ZW" sz="2800" dirty="0"/>
              <a:t>: Fine-tuned the </a:t>
            </a:r>
            <a:r>
              <a:rPr lang="en-ZW" sz="2800" b="1" dirty="0"/>
              <a:t>XLM-</a:t>
            </a:r>
            <a:r>
              <a:rPr lang="en-ZW" sz="2800" b="1" dirty="0" err="1"/>
              <a:t>RoBERTa</a:t>
            </a:r>
            <a:r>
              <a:rPr lang="en-ZW" sz="2800" b="1" dirty="0"/>
              <a:t> (Base)</a:t>
            </a:r>
            <a:r>
              <a:rPr lang="en-ZW" sz="2800" dirty="0"/>
              <a:t> transformer model, leveraging its cross-lingual capabilities for effective feature extraction.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ZW" sz="2800" b="1" dirty="0"/>
              <a:t>Training Strategy</a:t>
            </a:r>
            <a:r>
              <a:rPr lang="en-ZW" sz="2800" dirty="0"/>
              <a:t>: Trained for 3 epochs using the </a:t>
            </a:r>
            <a:r>
              <a:rPr lang="en-ZW" sz="2800" b="1" dirty="0" err="1"/>
              <a:t>AdamW</a:t>
            </a:r>
            <a:r>
              <a:rPr lang="en-ZW" sz="2800" b="1" dirty="0"/>
              <a:t> optimizer</a:t>
            </a:r>
            <a:r>
              <a:rPr lang="en-ZW" sz="2800" dirty="0"/>
              <a:t> and a linear learning rate scheduler to ensure stable convergence.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ZW" sz="2800" b="1" dirty="0"/>
              <a:t>Evaluation</a:t>
            </a:r>
            <a:r>
              <a:rPr lang="en-ZW" sz="2800" dirty="0"/>
              <a:t>: Assessed performance using </a:t>
            </a:r>
            <a:r>
              <a:rPr lang="en-ZW" sz="2800" b="1" dirty="0"/>
              <a:t>Accuracy, F1-Score</a:t>
            </a:r>
            <a:r>
              <a:rPr lang="en-ZW" sz="2800" dirty="0"/>
              <a:t>, and Confusion Matrices to verify precision across all emotion categories.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ZW" sz="2800" b="1" dirty="0"/>
              <a:t>Deployment</a:t>
            </a:r>
            <a:r>
              <a:rPr lang="en-ZW" sz="2800" dirty="0"/>
              <a:t>: Built a lightweight </a:t>
            </a:r>
            <a:r>
              <a:rPr lang="en-ZW" sz="2800" b="1" dirty="0"/>
              <a:t>Flask web interface</a:t>
            </a:r>
            <a:r>
              <a:rPr lang="en-ZW" sz="2800" dirty="0"/>
              <a:t> to demonstrate real-time emotion prediction on user inputs.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29224" y="571468"/>
            <a:ext cx="641188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0" b="1" spc="415" dirty="0">
                <a:solidFill>
                  <a:schemeClr val="accent1"/>
                </a:solidFill>
                <a:latin typeface="Times New Roman" panose="02020603050405020304"/>
                <a:cs typeface="Times New Roman" panose="02020603050405020304"/>
              </a:rPr>
              <a:t>M</a:t>
            </a:r>
            <a:r>
              <a:rPr lang="en-US" sz="9000" b="1" spc="-55" dirty="0">
                <a:solidFill>
                  <a:schemeClr val="accent1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lang="en-US" sz="9000" b="1" spc="-5" dirty="0">
                <a:solidFill>
                  <a:schemeClr val="accent1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lang="en-US" sz="9000" b="1" spc="-509" dirty="0">
                <a:solidFill>
                  <a:schemeClr val="accent1"/>
                </a:solidFill>
                <a:latin typeface="Times New Roman" panose="02020603050405020304"/>
                <a:cs typeface="Times New Roman" panose="02020603050405020304"/>
              </a:rPr>
              <a:t>hodo</a:t>
            </a:r>
            <a:r>
              <a:rPr lang="en-US" sz="9000" b="1" spc="-65" dirty="0">
                <a:solidFill>
                  <a:schemeClr val="accent1"/>
                </a:solidFill>
                <a:latin typeface="Times New Roman" panose="02020603050405020304"/>
                <a:cs typeface="Times New Roman" panose="02020603050405020304"/>
              </a:rPr>
              <a:t>logy</a:t>
            </a:r>
            <a:endParaRPr lang="en-US" sz="9000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11152" y="1975148"/>
            <a:ext cx="14708630" cy="61991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200" marR="5080" indent="-571500">
              <a:lnSpc>
                <a:spcPct val="150000"/>
              </a:lnSpc>
              <a:spcBef>
                <a:spcPts val="100"/>
              </a:spcBef>
            </a:pPr>
            <a:r>
              <a:rPr lang="en-US" sz="4400" b="1" dirty="0">
                <a:solidFill>
                  <a:schemeClr val="accent1"/>
                </a:solidFill>
                <a:latin typeface="Times New Roman" panose="02020603050405020304"/>
                <a:cs typeface="Times New Roman" panose="02020603050405020304"/>
              </a:rPr>
              <a:t>Hardware requirements: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2800" b="1" dirty="0"/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b="1" dirty="0"/>
              <a:t>Processor (CPU)</a:t>
            </a:r>
            <a:r>
              <a:rPr lang="en-IN" sz="2800" dirty="0"/>
              <a:t>: Intel Core i5 (8th Gen) or AMD </a:t>
            </a:r>
            <a:r>
              <a:rPr lang="en-IN" sz="2800" dirty="0" err="1"/>
              <a:t>Ryzen</a:t>
            </a:r>
            <a:r>
              <a:rPr lang="en-IN" sz="2800" dirty="0"/>
              <a:t> 5 equivalent (Minimum).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IN" sz="2800" dirty="0"/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b="1" dirty="0"/>
              <a:t>Memory (RAM)</a:t>
            </a:r>
            <a:r>
              <a:rPr lang="en-IN" sz="2800" dirty="0"/>
              <a:t>: 8 GB Minimum (16 GB Recommended for smoother training).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IN" sz="2800" dirty="0"/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b="1" dirty="0"/>
              <a:t>Storage</a:t>
            </a:r>
            <a:r>
              <a:rPr lang="en-IN" sz="2800" dirty="0"/>
              <a:t>: 10 GB free disk space (for dataset, model weights, and dependencies).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IN" sz="2800" dirty="0"/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b="1" dirty="0"/>
              <a:t>Graphics Processing Unit (GPU)</a:t>
            </a:r>
            <a:r>
              <a:rPr lang="en-IN" sz="2800" dirty="0"/>
              <a:t>: NVIDIA GPU with at least 4GB VRAM (Recommended for faster training/inference), though CPU-only execution is supported.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IN" sz="2800" dirty="0"/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b="1" dirty="0"/>
              <a:t>Internet Connection</a:t>
            </a:r>
            <a:r>
              <a:rPr lang="en-IN" sz="2800" dirty="0"/>
              <a:t>: Required for downloading pre-trained models and libraries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75"/>
              </a:lnSpc>
            </a:pPr>
            <a:r>
              <a:rPr spc="120" dirty="0"/>
              <a:t>Department</a:t>
            </a:r>
            <a:r>
              <a:rPr spc="-30" dirty="0"/>
              <a:t> </a:t>
            </a:r>
            <a:r>
              <a:rPr spc="70" dirty="0"/>
              <a:t>of</a:t>
            </a:r>
            <a:r>
              <a:rPr spc="-25" dirty="0"/>
              <a:t> </a:t>
            </a:r>
            <a:r>
              <a:rPr spc="90" dirty="0"/>
              <a:t>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9464" y="290886"/>
            <a:ext cx="1040509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0" b="1" spc="-40" dirty="0">
                <a:solidFill>
                  <a:schemeClr val="accent1"/>
                </a:solidFill>
                <a:latin typeface="Times New Roman" panose="02020603050405020304"/>
                <a:cs typeface="Times New Roman" panose="02020603050405020304"/>
              </a:rPr>
              <a:t>System	</a:t>
            </a:r>
            <a:r>
              <a:rPr lang="en-US" sz="9000" b="1" spc="-245" dirty="0">
                <a:solidFill>
                  <a:schemeClr val="accent1"/>
                </a:solidFill>
                <a:latin typeface="Times New Roman" panose="02020603050405020304"/>
                <a:cs typeface="Times New Roman" panose="02020603050405020304"/>
              </a:rPr>
              <a:t>Requirements</a:t>
            </a:r>
            <a:endParaRPr lang="en-US" sz="9000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2B6F7-D416-7F8E-3D1F-37CD48472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264" y="751012"/>
            <a:ext cx="15530642" cy="1780827"/>
          </a:xfrm>
        </p:spPr>
        <p:txBody>
          <a:bodyPr>
            <a:normAutofit fontScale="90000"/>
          </a:bodyPr>
          <a:lstStyle/>
          <a:p>
            <a:r>
              <a:rPr lang="en-US" sz="6600" b="1" spc="-245" dirty="0">
                <a:solidFill>
                  <a:schemeClr val="accent1"/>
                </a:solidFill>
                <a:latin typeface="Times New Roman" panose="02020603050405020304"/>
                <a:cs typeface="Times New Roman" panose="02020603050405020304"/>
              </a:rPr>
              <a:t>Software Requirements</a:t>
            </a:r>
            <a:br>
              <a:rPr lang="en-US" sz="5400" dirty="0">
                <a:latin typeface="Times New Roman" pitchFamily="18" charset="0"/>
                <a:cs typeface="Times New Roman" pitchFamily="18" charset="0"/>
              </a:rPr>
            </a:br>
            <a:endParaRPr lang="en-US" dirty="0"/>
          </a:p>
        </p:txBody>
      </p:sp>
      <p:sp>
        <p:nvSpPr>
          <p:cNvPr id="6" name="object 3"/>
          <p:cNvSpPr txBox="1"/>
          <p:nvPr/>
        </p:nvSpPr>
        <p:spPr>
          <a:xfrm>
            <a:off x="2807296" y="2767236"/>
            <a:ext cx="14575467" cy="5183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b="1" dirty="0"/>
              <a:t>Operating System</a:t>
            </a:r>
            <a:r>
              <a:rPr lang="en-IN" sz="2800" dirty="0"/>
              <a:t>: Windows 10/11, Linux (Ubuntu 20.04+), or macOS.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IN" sz="2800" dirty="0"/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b="1" dirty="0"/>
              <a:t>Programming Language</a:t>
            </a:r>
            <a:r>
              <a:rPr lang="en-IN" sz="2800" dirty="0"/>
              <a:t>: Python 3.8 or higher.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IN" sz="2800" dirty="0"/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b="1" dirty="0"/>
              <a:t>Deep Learning Framework</a:t>
            </a:r>
            <a:r>
              <a:rPr lang="en-IN" sz="2800" dirty="0"/>
              <a:t>: </a:t>
            </a:r>
            <a:r>
              <a:rPr lang="en-IN" sz="2800" dirty="0" err="1"/>
              <a:t>PyTorch</a:t>
            </a:r>
            <a:r>
              <a:rPr lang="en-IN" sz="2800" dirty="0"/>
              <a:t> (v1.10+).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IN" sz="2800" dirty="0"/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b="1" dirty="0"/>
              <a:t>Libraries</a:t>
            </a:r>
            <a:r>
              <a:rPr lang="en-IN" sz="2800" dirty="0"/>
              <a:t>: Hugging Face Transformers, Scikit-learn, NumPy, Pandas.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IN" sz="2800" dirty="0"/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b="1" dirty="0"/>
              <a:t>Web Framework</a:t>
            </a:r>
            <a:r>
              <a:rPr lang="en-IN" sz="2800" dirty="0"/>
              <a:t>: Flask (for backend API and deployment).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IN" sz="2800" dirty="0"/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b="1" dirty="0"/>
              <a:t>IDE</a:t>
            </a:r>
            <a:r>
              <a:rPr lang="en-IN" sz="2800" dirty="0"/>
              <a:t>: VS Code, PyCharm, or </a:t>
            </a:r>
            <a:r>
              <a:rPr lang="en-IN" sz="2800" dirty="0" err="1"/>
              <a:t>Jupyter</a:t>
            </a:r>
            <a:r>
              <a:rPr lang="en-IN" sz="2800" dirty="0"/>
              <a:t> Notebook.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673684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68A0D-FB00-4CB8-033D-BAE985991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1312" y="1039044"/>
            <a:ext cx="13367531" cy="1921335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Proposed System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1930A-9D36-72EB-DC2A-9A711D2B1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0671" y="2767237"/>
            <a:ext cx="13373100" cy="3960440"/>
          </a:xfrm>
        </p:spPr>
        <p:txBody>
          <a:bodyPr>
            <a:normAutofit/>
          </a:bodyPr>
          <a:lstStyle/>
          <a:p>
            <a:r>
              <a:rPr lang="en-US" sz="3200" b="1" dirty="0"/>
              <a:t>XLM-Roberta (Cross-lingual Language Model - </a:t>
            </a:r>
            <a:r>
              <a:rPr lang="en-US" sz="3200" b="1" dirty="0" err="1"/>
              <a:t>RoBERTa</a:t>
            </a:r>
            <a:r>
              <a:rPr lang="en-US" sz="3200" b="1" dirty="0"/>
              <a:t>)</a:t>
            </a:r>
            <a:r>
              <a:rPr lang="en-US" sz="3200" dirty="0"/>
              <a:t> is a transformer-based multilingual model developed by Facebook AI (Meta). It is pre-trained on a massive dataset comprising 2.5 terabytes of filtered </a:t>
            </a:r>
            <a:r>
              <a:rPr lang="en-US" sz="3200" dirty="0" err="1"/>
              <a:t>CommonCrawl</a:t>
            </a:r>
            <a:r>
              <a:rPr lang="en-US" sz="3200" dirty="0"/>
              <a:t> data across </a:t>
            </a:r>
            <a:r>
              <a:rPr lang="en-US" sz="3200" b="1" dirty="0"/>
              <a:t>100 different languages</a:t>
            </a:r>
            <a:r>
              <a:rPr lang="en-US" sz="3200" dirty="0"/>
              <a:t>, making it one of the most powerful models for cross-lingual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2664378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39A3D-9A6B-171C-9C9D-82581D26D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6333" y="1039044"/>
            <a:ext cx="13367531" cy="1921335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Key Features &amp; Innovations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97768-0E7E-BCE7-1354-7326C7CBE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3280" y="2479204"/>
            <a:ext cx="14593638" cy="6387629"/>
          </a:xfrm>
        </p:spPr>
        <p:txBody>
          <a:bodyPr/>
          <a:lstStyle/>
          <a:p>
            <a:r>
              <a:rPr lang="en-US" b="1" dirty="0"/>
              <a:t>Massive Multilingual Training</a:t>
            </a:r>
            <a:r>
              <a:rPr lang="en-US" dirty="0"/>
              <a:t>: Unlike previous models trained on Wikipedia, XLM-R is trained on </a:t>
            </a:r>
            <a:r>
              <a:rPr lang="en-US" dirty="0" err="1"/>
              <a:t>CommonCrawl</a:t>
            </a:r>
            <a:r>
              <a:rPr lang="en-US" dirty="0"/>
              <a:t> data, significantly increasing the amount of data for low-resource languages like Kannada.</a:t>
            </a:r>
          </a:p>
          <a:p>
            <a:r>
              <a:rPr lang="en-US" b="1" dirty="0"/>
              <a:t>Unified Vocabulary</a:t>
            </a:r>
            <a:r>
              <a:rPr lang="en-US" dirty="0"/>
              <a:t>: It uses a large shared vocabulary (250k tokens) via </a:t>
            </a:r>
            <a:r>
              <a:rPr lang="en-US" b="1" dirty="0" err="1"/>
              <a:t>SentencePiece</a:t>
            </a:r>
            <a:r>
              <a:rPr lang="en-US" dirty="0"/>
              <a:t>, allowing it to handle multiple languages and scripts without needing language-specific preprocessing.</a:t>
            </a:r>
          </a:p>
          <a:p>
            <a:r>
              <a:rPr lang="en-US" b="1" dirty="0" err="1"/>
              <a:t>RoBERTa</a:t>
            </a:r>
            <a:r>
              <a:rPr lang="en-US" b="1" dirty="0"/>
              <a:t> Architecture</a:t>
            </a:r>
            <a:r>
              <a:rPr lang="en-US" dirty="0"/>
              <a:t>: It builds on the robust </a:t>
            </a:r>
            <a:r>
              <a:rPr lang="en-US" dirty="0" err="1"/>
              <a:t>RoBERTa</a:t>
            </a:r>
            <a:r>
              <a:rPr lang="en-US" dirty="0"/>
              <a:t> approach (Robustly optimized BERT approach), which removes the Next Sentence Prediction (NSP) task and trains on longer sequences for better performance.</a:t>
            </a:r>
          </a:p>
          <a:p>
            <a:r>
              <a:rPr lang="en-US" b="1" dirty="0"/>
              <a:t>No Language Embeddings</a:t>
            </a:r>
            <a:r>
              <a:rPr lang="en-US" dirty="0"/>
              <a:t>: Unlike XLM, it does not use specific language embeddings, allowing the model to learn language representations directly from the text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183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1BAC1-DCA8-E581-B297-9FCEAAF8C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1312" y="936165"/>
            <a:ext cx="14305607" cy="125500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Benefits</a:t>
            </a:r>
            <a:br>
              <a:rPr lang="en-US" b="1" dirty="0"/>
            </a:b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05A28-0E46-CA2B-DECE-C606453FE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233" y="2047156"/>
            <a:ext cx="15025686" cy="7416824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Superior Performance</a:t>
            </a:r>
            <a:r>
              <a:rPr lang="en-US" dirty="0"/>
              <a:t>: It consistently outperforms multilingual BERT (</a:t>
            </a:r>
            <a:r>
              <a:rPr lang="en-US" dirty="0" err="1"/>
              <a:t>mBERT</a:t>
            </a:r>
            <a:r>
              <a:rPr lang="en-US" dirty="0"/>
              <a:t>) on cross-lingual classification tasks, especially for low-resource languages.</a:t>
            </a:r>
          </a:p>
          <a:p>
            <a:r>
              <a:rPr lang="en-US" b="1" dirty="0"/>
              <a:t>Cross-Lingual Transfer</a:t>
            </a:r>
            <a:r>
              <a:rPr lang="en-US" dirty="0"/>
              <a:t>: It can learn a task in one language (e.g., English) and apply it to another (e.g., Kannada) with minimal additional training.</a:t>
            </a:r>
          </a:p>
          <a:p>
            <a:r>
              <a:rPr lang="en-US" b="1" dirty="0"/>
              <a:t>Robustness</a:t>
            </a:r>
            <a:r>
              <a:rPr lang="en-US" dirty="0"/>
              <a:t>: The model is highly effective at handling noisy text and diverse linguistic structures, which is crucial for real-world social media or customer support data.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Democratization of NLP</a:t>
            </a:r>
            <a:r>
              <a:rPr lang="en-US" dirty="0"/>
              <a:t>: It enables high-quality NLP tools for regional languages (like Kannada) that were previously underserved by major tech advancements.</a:t>
            </a:r>
          </a:p>
          <a:p>
            <a:r>
              <a:rPr lang="en-US" b="1" dirty="0"/>
              <a:t>Reduced Data Dependency</a:t>
            </a:r>
            <a:r>
              <a:rPr lang="en-US" dirty="0"/>
              <a:t>: It reduces the need for massive labeled datasets in every target language, as the model already understands the underlying structure of the language.</a:t>
            </a:r>
          </a:p>
          <a:p>
            <a:r>
              <a:rPr lang="en-US" b="1" dirty="0"/>
              <a:t>Global Scalability</a:t>
            </a:r>
            <a:r>
              <a:rPr lang="en-US" dirty="0"/>
              <a:t>: Developers can build a single model that serves users across dozens of languages, simplifying deployment and maintenance.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B63E55-20ED-C9A8-D2F1-1876C9308D0A}"/>
              </a:ext>
            </a:extLst>
          </p:cNvPr>
          <p:cNvSpPr txBox="1"/>
          <p:nvPr/>
        </p:nvSpPr>
        <p:spPr>
          <a:xfrm>
            <a:off x="2807296" y="5047682"/>
            <a:ext cx="38164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accent1"/>
                </a:solidFill>
              </a:rPr>
              <a:t>Implications</a:t>
            </a:r>
            <a:endParaRPr lang="en-US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744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51568" y="8720670"/>
            <a:ext cx="804667" cy="1627711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2376134"/>
            <a:ext cx="1601470" cy="3276600"/>
            <a:chOff x="0" y="2376134"/>
            <a:chExt cx="1601470" cy="32766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181629"/>
              <a:ext cx="211519" cy="56904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2376134"/>
              <a:ext cx="1601231" cy="3276186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660995" y="529308"/>
            <a:ext cx="1627003" cy="3072742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ftr" sz="quarter" idx="11"/>
          </p:nvPr>
        </p:nvSpPr>
        <p:spPr>
          <a:xfrm>
            <a:off x="105759" y="9225468"/>
            <a:ext cx="10009298" cy="547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75"/>
              </a:lnSpc>
            </a:pPr>
            <a:r>
              <a:rPr spc="120" dirty="0"/>
              <a:t>Department</a:t>
            </a:r>
            <a:r>
              <a:rPr spc="-30" dirty="0"/>
              <a:t> </a:t>
            </a:r>
            <a:r>
              <a:rPr spc="70" dirty="0"/>
              <a:t>of</a:t>
            </a:r>
            <a:r>
              <a:rPr spc="-25" dirty="0"/>
              <a:t> </a:t>
            </a:r>
            <a:r>
              <a:rPr spc="90" dirty="0"/>
              <a:t>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4799" y="3957286"/>
            <a:ext cx="647049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0" b="1" spc="-40" dirty="0">
                <a:solidFill>
                  <a:schemeClr val="accent1"/>
                </a:solidFill>
                <a:latin typeface="Times New Roman" panose="02020603050405020304"/>
                <a:cs typeface="Times New Roman" panose="02020603050405020304"/>
              </a:rPr>
              <a:t>Flow	</a:t>
            </a:r>
            <a:r>
              <a:rPr lang="en-US" sz="9000" b="1" spc="-509" dirty="0">
                <a:solidFill>
                  <a:schemeClr val="accent1"/>
                </a:solidFill>
                <a:latin typeface="Times New Roman" panose="02020603050405020304"/>
                <a:cs typeface="Times New Roman" panose="02020603050405020304"/>
              </a:rPr>
              <a:t>d</a:t>
            </a:r>
            <a:r>
              <a:rPr lang="en-US" sz="9000" b="1" spc="-65" dirty="0">
                <a:solidFill>
                  <a:schemeClr val="accent1"/>
                </a:solidFill>
                <a:latin typeface="Times New Roman" panose="02020603050405020304"/>
                <a:cs typeface="Times New Roman" panose="02020603050405020304"/>
              </a:rPr>
              <a:t>iag</a:t>
            </a:r>
            <a:r>
              <a:rPr lang="en-US" sz="9000" b="1" spc="-530" dirty="0">
                <a:solidFill>
                  <a:schemeClr val="accent1"/>
                </a:solidFill>
                <a:latin typeface="Times New Roman" panose="02020603050405020304"/>
                <a:cs typeface="Times New Roman" panose="02020603050405020304"/>
              </a:rPr>
              <a:t>ra</a:t>
            </a:r>
            <a:r>
              <a:rPr lang="en-US" sz="9000" b="1" spc="-560" dirty="0">
                <a:solidFill>
                  <a:schemeClr val="accent1"/>
                </a:solidFill>
                <a:latin typeface="Times New Roman" panose="02020603050405020304"/>
                <a:cs typeface="Times New Roman" panose="02020603050405020304"/>
              </a:rPr>
              <a:t>m</a:t>
            </a:r>
            <a:endParaRPr lang="en-US" sz="9000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9C43850-CAB3-FFDB-81A9-3A5E511B81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516" y="193654"/>
            <a:ext cx="6597216" cy="989969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7AEC1-C915-3600-C254-B566A258F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2945" y="989917"/>
            <a:ext cx="13367531" cy="1921335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accent1"/>
                </a:solidFill>
                <a:effectLst/>
              </a:rPr>
              <a:t>Results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A9CA0-B970-F192-94EE-40B7252A9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344" y="2857500"/>
            <a:ext cx="13373100" cy="5666433"/>
          </a:xfrm>
        </p:spPr>
        <p:txBody>
          <a:bodyPr>
            <a:normAutofit/>
          </a:bodyPr>
          <a:lstStyle/>
          <a:p>
            <a:pPr lvl="0"/>
            <a:r>
              <a:rPr lang="en-IN" sz="3200" b="1" dirty="0">
                <a:effectLst/>
              </a:rPr>
              <a:t>Accuracy:</a:t>
            </a:r>
            <a:r>
              <a:rPr lang="en-IN" sz="3200" dirty="0">
                <a:effectLst/>
              </a:rPr>
              <a:t> The model achieved an accuracy of </a:t>
            </a:r>
            <a:r>
              <a:rPr lang="en-IN" sz="3200" b="1" dirty="0">
                <a:effectLst/>
              </a:rPr>
              <a:t>~99%</a:t>
            </a:r>
            <a:r>
              <a:rPr lang="en-IN" sz="3200" dirty="0">
                <a:effectLst/>
              </a:rPr>
              <a:t> on the test dataset.</a:t>
            </a:r>
          </a:p>
          <a:p>
            <a:pPr lvl="0"/>
            <a:r>
              <a:rPr lang="en-IN" sz="3200" b="1" dirty="0">
                <a:effectLst/>
              </a:rPr>
              <a:t>Robustness:</a:t>
            </a:r>
            <a:r>
              <a:rPr lang="en-IN" sz="3200" dirty="0">
                <a:effectLst/>
              </a:rPr>
              <a:t> Successfully classifies short phrases (e.g., "</a:t>
            </a:r>
            <a:r>
              <a:rPr lang="en-IN" sz="3200" dirty="0" err="1">
                <a:effectLst/>
              </a:rPr>
              <a:t>ನನಗೆ</a:t>
            </a:r>
            <a:r>
              <a:rPr lang="en-IN" sz="3200" dirty="0">
                <a:effectLst/>
              </a:rPr>
              <a:t> </a:t>
            </a:r>
            <a:r>
              <a:rPr lang="en-IN" sz="3200" dirty="0" err="1">
                <a:effectLst/>
              </a:rPr>
              <a:t>ಖುಷಿ</a:t>
            </a:r>
            <a:r>
              <a:rPr lang="en-IN" sz="3200" dirty="0">
                <a:effectLst/>
              </a:rPr>
              <a:t>") and complex sentences.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82090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B0D5338-76E1-C0A3-D083-6AE5955C0E77}"/>
              </a:ext>
            </a:extLst>
          </p:cNvPr>
          <p:cNvSpPr txBox="1"/>
          <p:nvPr/>
        </p:nvSpPr>
        <p:spPr>
          <a:xfrm>
            <a:off x="2807296" y="1060448"/>
            <a:ext cx="142575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accent1"/>
                </a:solidFill>
              </a:rPr>
              <a:t>Comparison of Proposed Model with other Models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810D395-B4D8-268F-6437-B1F60A22BE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523524"/>
              </p:ext>
            </p:extLst>
          </p:nvPr>
        </p:nvGraphicFramePr>
        <p:xfrm>
          <a:off x="2591272" y="2119164"/>
          <a:ext cx="13825539" cy="71287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88232">
                  <a:extLst>
                    <a:ext uri="{9D8B030D-6E8A-4147-A177-3AD203B41FA5}">
                      <a16:colId xmlns:a16="http://schemas.microsoft.com/office/drawing/2014/main" val="475678879"/>
                    </a:ext>
                  </a:extLst>
                </a:gridCol>
                <a:gridCol w="1861922">
                  <a:extLst>
                    <a:ext uri="{9D8B030D-6E8A-4147-A177-3AD203B41FA5}">
                      <a16:colId xmlns:a16="http://schemas.microsoft.com/office/drawing/2014/main" val="854964248"/>
                    </a:ext>
                  </a:extLst>
                </a:gridCol>
                <a:gridCol w="1975077">
                  <a:extLst>
                    <a:ext uri="{9D8B030D-6E8A-4147-A177-3AD203B41FA5}">
                      <a16:colId xmlns:a16="http://schemas.microsoft.com/office/drawing/2014/main" val="2573705292"/>
                    </a:ext>
                  </a:extLst>
                </a:gridCol>
                <a:gridCol w="1975077">
                  <a:extLst>
                    <a:ext uri="{9D8B030D-6E8A-4147-A177-3AD203B41FA5}">
                      <a16:colId xmlns:a16="http://schemas.microsoft.com/office/drawing/2014/main" val="124239055"/>
                    </a:ext>
                  </a:extLst>
                </a:gridCol>
                <a:gridCol w="1975077">
                  <a:extLst>
                    <a:ext uri="{9D8B030D-6E8A-4147-A177-3AD203B41FA5}">
                      <a16:colId xmlns:a16="http://schemas.microsoft.com/office/drawing/2014/main" val="2634658334"/>
                    </a:ext>
                  </a:extLst>
                </a:gridCol>
                <a:gridCol w="1975077">
                  <a:extLst>
                    <a:ext uri="{9D8B030D-6E8A-4147-A177-3AD203B41FA5}">
                      <a16:colId xmlns:a16="http://schemas.microsoft.com/office/drawing/2014/main" val="1615330280"/>
                    </a:ext>
                  </a:extLst>
                </a:gridCol>
                <a:gridCol w="1975077">
                  <a:extLst>
                    <a:ext uri="{9D8B030D-6E8A-4147-A177-3AD203B41FA5}">
                      <a16:colId xmlns:a16="http://schemas.microsoft.com/office/drawing/2014/main" val="2346038693"/>
                    </a:ext>
                  </a:extLst>
                </a:gridCol>
              </a:tblGrid>
              <a:tr h="96675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Model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Final Validation Loss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Final Validation Accuracy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Test Loss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Test Accuracy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Softmax Probability Example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Confusion-Related Evaluation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55886743"/>
                  </a:ext>
                </a:extLst>
              </a:tr>
              <a:tr h="129876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CNN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2.29 × 10⁻⁹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93%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2.29 × 10⁻⁹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93%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≈0.9 for all classes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Minor confusion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41494466"/>
                  </a:ext>
                </a:extLst>
              </a:tr>
              <a:tr h="129876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BiLSTM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0.0650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94.79%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0.1025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</a:rPr>
                        <a:t>94.79%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High confidence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Minor confusion (not reported)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32525496"/>
                  </a:ext>
                </a:extLst>
              </a:tr>
              <a:tr h="129876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GRU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0.8816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73.13%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0.8816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73.13%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Moderate confidence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High confusion between classes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66653778"/>
                  </a:ext>
                </a:extLst>
              </a:tr>
              <a:tr h="96697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DistilBERT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0.4161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87.42%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0.3929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</a:rPr>
                        <a:t>87.42%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joy: 0.9974, anger: 0.6154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Moderate confusion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21371944"/>
                  </a:ext>
                </a:extLst>
              </a:tr>
              <a:tr h="129876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XLM-</a:t>
                      </a:r>
                      <a:r>
                        <a:rPr lang="en-US" sz="1800" dirty="0" err="1">
                          <a:effectLst/>
                        </a:rPr>
                        <a:t>RoBERTa</a:t>
                      </a:r>
                      <a:r>
                        <a:rPr lang="en-US" sz="1800" dirty="0">
                          <a:effectLst/>
                        </a:rPr>
                        <a:t>-Base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(Proposed Model)</a:t>
                      </a: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0.0001 (</a:t>
                      </a:r>
                      <a:r>
                        <a:rPr lang="en-US" sz="1800" dirty="0" err="1">
                          <a:effectLst/>
                        </a:rPr>
                        <a:t>val</a:t>
                      </a:r>
                      <a:r>
                        <a:rPr lang="en-US" sz="1800" dirty="0">
                          <a:effectLst/>
                        </a:rPr>
                        <a:t>)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99.3%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0.0003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99.3%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Very high stability (F1 = 1.0)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Perfect confusion matrix – zero errors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80765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9295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6516FB-28F0-0AFA-28C5-7B995AE45EF2}"/>
              </a:ext>
            </a:extLst>
          </p:cNvPr>
          <p:cNvSpPr txBox="1"/>
          <p:nvPr/>
        </p:nvSpPr>
        <p:spPr>
          <a:xfrm>
            <a:off x="3023320" y="895028"/>
            <a:ext cx="43924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accent1"/>
                </a:solidFill>
              </a:rPr>
              <a:t>Snapshot’s</a:t>
            </a: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A9EF20-6CE7-AB3A-ED41-A5C86291D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3320" y="2119164"/>
            <a:ext cx="14041560" cy="7776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985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179881-96D9-C996-E326-4916E4CB3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144" y="2119164"/>
            <a:ext cx="7840169" cy="63254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C0D72C-316E-B8D0-6E39-A11A94F31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4040" y="2098927"/>
            <a:ext cx="7849695" cy="63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1437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BB7A59-DFA4-7009-E17A-C3551D57B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208" y="2230575"/>
            <a:ext cx="7849695" cy="62969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AB9032-E9DE-21DC-9B94-3A280DD62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4423" y="2200699"/>
            <a:ext cx="7849695" cy="628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9881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1E7642-238F-9CA6-08D5-D9311C703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360" y="1327076"/>
            <a:ext cx="12673408" cy="820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7857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795EE-7E00-72AE-488F-894C8ED83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7120" y="949797"/>
            <a:ext cx="13367531" cy="1921335"/>
          </a:xfrm>
        </p:spPr>
        <p:txBody>
          <a:bodyPr/>
          <a:lstStyle/>
          <a:p>
            <a:r>
              <a:rPr lang="en-IN" dirty="0">
                <a:effectLst/>
              </a:rPr>
              <a:t> </a:t>
            </a:r>
            <a:r>
              <a:rPr lang="en-IN" b="1" dirty="0">
                <a:solidFill>
                  <a:schemeClr val="accent1"/>
                </a:solidFill>
                <a:effectLst/>
              </a:rPr>
              <a:t>Conclusion</a:t>
            </a:r>
            <a:endParaRPr lang="en-IN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5A7D1-798A-9D83-26BF-6FC7731A53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1352" y="2407196"/>
            <a:ext cx="13877156" cy="5666433"/>
          </a:xfrm>
        </p:spPr>
        <p:txBody>
          <a:bodyPr>
            <a:normAutofit/>
          </a:bodyPr>
          <a:lstStyle/>
          <a:p>
            <a:r>
              <a:rPr lang="en-ZW" b="1" dirty="0"/>
              <a:t>Successfully Built</a:t>
            </a:r>
            <a:r>
              <a:rPr lang="en-ZW" dirty="0"/>
              <a:t>: We created a working AI model that can accurately detect emotions (Joy, Anger, Sadness, Fear, Neutral) in the Kannada language.</a:t>
            </a:r>
          </a:p>
          <a:p>
            <a:r>
              <a:rPr lang="en-ZW" b="1" dirty="0"/>
              <a:t>Overcame Language Barrier</a:t>
            </a:r>
            <a:r>
              <a:rPr lang="en-ZW" dirty="0"/>
              <a:t>: By using advanced technology (XLM-</a:t>
            </a:r>
            <a:r>
              <a:rPr lang="en-ZW" dirty="0" err="1"/>
              <a:t>RoBERTa</a:t>
            </a:r>
            <a:r>
              <a:rPr lang="en-ZW" dirty="0"/>
              <a:t>), we proved that computers can understand regional Indian languages just as well as English.</a:t>
            </a:r>
          </a:p>
          <a:p>
            <a:r>
              <a:rPr lang="en-ZW" b="1" dirty="0"/>
              <a:t>Real-World Use</a:t>
            </a:r>
            <a:r>
              <a:rPr lang="en-ZW" dirty="0"/>
              <a:t>: The system is fast and ready to be used in real apps, like </a:t>
            </a:r>
            <a:r>
              <a:rPr lang="en-ZW" dirty="0" err="1"/>
              <a:t>analyzing</a:t>
            </a:r>
            <a:r>
              <a:rPr lang="en-ZW" dirty="0"/>
              <a:t> customer feedback or monitoring social media in Karnataka.</a:t>
            </a:r>
          </a:p>
          <a:p>
            <a:r>
              <a:rPr lang="en-ZW" b="1" dirty="0"/>
              <a:t>Simple &amp; Effective</a:t>
            </a:r>
            <a:r>
              <a:rPr lang="en-ZW" dirty="0"/>
              <a:t>: Even with short, everyday words, the model performs well, making it practical for real conversations.</a:t>
            </a:r>
          </a:p>
          <a:p>
            <a:r>
              <a:rPr lang="en-ZW" b="1" dirty="0"/>
              <a:t>Step Forward</a:t>
            </a:r>
            <a:r>
              <a:rPr lang="en-ZW" dirty="0"/>
              <a:t>: This project is a significant step towards making technology more inclusive and accessible for Kannada speakers.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41360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3BBEF-8F58-6F00-7E36-17A0F5B27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/>
                </a:solidFill>
                <a:effectLst/>
              </a:rPr>
              <a:t>Future Works</a:t>
            </a:r>
            <a:endParaRPr lang="en-IN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830CC-3F35-C608-438C-95DB71A10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b="1" dirty="0">
                <a:effectLst/>
              </a:rPr>
              <a:t>Expand Emotion Categories:</a:t>
            </a:r>
            <a:r>
              <a:rPr lang="en-IN" dirty="0">
                <a:effectLst/>
              </a:rPr>
              <a:t> Add more subtle emotions like "Surprise," "Disgust," or "Trust."</a:t>
            </a:r>
          </a:p>
          <a:p>
            <a:pPr lvl="0"/>
            <a:r>
              <a:rPr lang="en-IN" b="1" dirty="0">
                <a:effectLst/>
              </a:rPr>
              <a:t>Speech-to-Text Integration:</a:t>
            </a:r>
            <a:r>
              <a:rPr lang="en-IN" dirty="0">
                <a:effectLst/>
              </a:rPr>
              <a:t> Allow users to speak in Kannada, convert it to text, and then </a:t>
            </a:r>
            <a:r>
              <a:rPr lang="en-IN" dirty="0" err="1">
                <a:effectLst/>
              </a:rPr>
              <a:t>analyze</a:t>
            </a:r>
            <a:r>
              <a:rPr lang="en-IN" dirty="0">
                <a:effectLst/>
              </a:rPr>
              <a:t> the emotion.</a:t>
            </a:r>
          </a:p>
          <a:p>
            <a:pPr lvl="0"/>
            <a:r>
              <a:rPr lang="en-IN" b="1" dirty="0">
                <a:effectLst/>
              </a:rPr>
              <a:t>Mobile Application:</a:t>
            </a:r>
            <a:r>
              <a:rPr lang="en-IN" dirty="0">
                <a:effectLst/>
              </a:rPr>
              <a:t> Develop a dedicated Android/iOS app for on-the-go usage.</a:t>
            </a:r>
          </a:p>
          <a:p>
            <a:pPr lvl="0"/>
            <a:r>
              <a:rPr lang="en-IN" b="1" dirty="0">
                <a:effectLst/>
              </a:rPr>
              <a:t>Mixed-Code Support:</a:t>
            </a:r>
            <a:r>
              <a:rPr lang="en-IN" dirty="0">
                <a:effectLst/>
              </a:rPr>
              <a:t> Improve handling of "</a:t>
            </a:r>
            <a:r>
              <a:rPr lang="en-IN" dirty="0" err="1">
                <a:effectLst/>
              </a:rPr>
              <a:t>Kanglish</a:t>
            </a:r>
            <a:r>
              <a:rPr lang="en-IN" dirty="0">
                <a:effectLst/>
              </a:rPr>
              <a:t>" (Kannada written in English script) or sentences mixing English and Kannada words.</a:t>
            </a:r>
          </a:p>
          <a:p>
            <a:pPr lvl="0"/>
            <a:r>
              <a:rPr lang="en-IN" b="1" dirty="0">
                <a:effectLst/>
              </a:rPr>
              <a:t>Large Scale Deployment:</a:t>
            </a:r>
            <a:r>
              <a:rPr lang="en-IN" dirty="0">
                <a:effectLst/>
              </a:rPr>
              <a:t> Deploy the API on cloud platforms (AWS/GCP) for public access.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22515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7296" y="967036"/>
            <a:ext cx="15773400" cy="1360638"/>
          </a:xfrm>
        </p:spPr>
        <p:txBody>
          <a:bodyPr/>
          <a:lstStyle/>
          <a:p>
            <a:r>
              <a:rPr lang="en-US" b="1" spc="-165" dirty="0">
                <a:solidFill>
                  <a:schemeClr val="accent1"/>
                </a:solidFill>
                <a:latin typeface="Times New Roman" panose="02020603050405020304"/>
                <a:cs typeface="Times New Roman" panose="02020603050405020304"/>
              </a:rPr>
              <a:t>Reference </a:t>
            </a:r>
            <a:endParaRPr lang="en-IN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5048" y="2047156"/>
            <a:ext cx="16777864" cy="7560840"/>
          </a:xfrm>
        </p:spPr>
        <p:txBody>
          <a:bodyPr>
            <a:normAutofit/>
          </a:bodyPr>
          <a:lstStyle/>
          <a:p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Sushma T. M., Sudeep T. C., Kiran J. </a:t>
            </a:r>
            <a:r>
              <a:rPr lang="en-IN" dirty="0" err="1"/>
              <a:t>Marati</a:t>
            </a:r>
            <a:r>
              <a:rPr lang="en-IN" dirty="0"/>
              <a:t>, N. Sneha Reddy, and Rakesh V.,</a:t>
            </a:r>
            <a:br>
              <a:rPr lang="en-IN" dirty="0"/>
            </a:br>
            <a:r>
              <a:rPr lang="en-IN" dirty="0"/>
              <a:t>“</a:t>
            </a:r>
            <a:r>
              <a:rPr lang="en-IN" b="1" dirty="0"/>
              <a:t>Sentimental Analysis of Kannada Product Review Using BERT</a:t>
            </a:r>
            <a:r>
              <a:rPr lang="en-IN" dirty="0"/>
              <a:t>,” </a:t>
            </a:r>
            <a:r>
              <a:rPr lang="en-IN" i="1" dirty="0"/>
              <a:t>International Research Journal of Engineering and Technology (IRJET)</a:t>
            </a:r>
            <a:r>
              <a:rPr lang="en-IN" dirty="0"/>
              <a:t>, vol. 12, no. 2, pp. 79–83, Feb. 2025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K. P. S. Patil, A. D., K. Kishan, B. G., and A. Venkatesh,</a:t>
            </a:r>
            <a:br>
              <a:rPr lang="en-IN" dirty="0"/>
            </a:br>
            <a:r>
              <a:rPr lang="en-IN" dirty="0"/>
              <a:t>“</a:t>
            </a:r>
            <a:r>
              <a:rPr lang="en-IN" b="1" dirty="0"/>
              <a:t>Sentiment Analysis in Indian Regional Language (Kannada)</a:t>
            </a:r>
            <a:r>
              <a:rPr lang="en-IN" dirty="0"/>
              <a:t>,” in </a:t>
            </a:r>
            <a:r>
              <a:rPr lang="en-IN" i="1" dirty="0"/>
              <a:t>2024 Third International Conference on Artificial Intelligence, Computational Electronics and Communication System (AICECS)</a:t>
            </a:r>
            <a:r>
              <a:rPr lang="en-IN" dirty="0"/>
              <a:t>, IEEE, 2024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P.A.Dhulekar,PriyankaAher,YogitaKhairnar,Swapnali Choudhari “Design of IR based Image Processing Technique for Digital Camera Deactivation” presented in IEEE International Conference on Global Trends in Signal Processing, Information Computing and Communication 2016.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S. H. Lakshmaiah, F. </a:t>
            </a:r>
            <a:r>
              <a:rPr lang="en-IN" dirty="0" err="1"/>
              <a:t>Balouchzahi</a:t>
            </a:r>
            <a:r>
              <a:rPr lang="en-IN" dirty="0"/>
              <a:t>, M. D. Anusha, and G. Sidorov,</a:t>
            </a:r>
            <a:br>
              <a:rPr lang="en-IN" dirty="0"/>
            </a:br>
            <a:r>
              <a:rPr lang="en-IN" dirty="0"/>
              <a:t>“</a:t>
            </a:r>
            <a:r>
              <a:rPr lang="en-IN" b="1" dirty="0" err="1"/>
              <a:t>CoLI</a:t>
            </a:r>
            <a:r>
              <a:rPr lang="en-IN" b="1" dirty="0"/>
              <a:t>-Machine Learning Approaches for Code-mixed Language Identification at the Word Level in Kannada-English Texts</a:t>
            </a:r>
            <a:r>
              <a:rPr lang="en-IN" dirty="0"/>
              <a:t>,” </a:t>
            </a:r>
            <a:r>
              <a:rPr lang="en-IN" i="1" dirty="0"/>
              <a:t>Acta </a:t>
            </a:r>
            <a:r>
              <a:rPr lang="en-IN" i="1" dirty="0" err="1"/>
              <a:t>Polytechnica</a:t>
            </a:r>
            <a:r>
              <a:rPr lang="en-IN" i="1" dirty="0"/>
              <a:t> </a:t>
            </a:r>
            <a:r>
              <a:rPr lang="en-IN" i="1" dirty="0" err="1"/>
              <a:t>Hungarica</a:t>
            </a:r>
            <a:r>
              <a:rPr lang="en-IN" dirty="0"/>
              <a:t>, vol. 19, no. 10, pp. 123–141, 2022.</a:t>
            </a:r>
          </a:p>
        </p:txBody>
      </p:sp>
    </p:spTree>
    <p:extLst>
      <p:ext uri="{BB962C8B-B14F-4D97-AF65-F5344CB8AC3E}">
        <p14:creationId xmlns:p14="http://schemas.microsoft.com/office/powerpoint/2010/main" val="29279403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00322-1A6C-BBB6-5BCB-D8296F514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104" y="2119164"/>
            <a:ext cx="15985776" cy="712879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 err="1"/>
              <a:t>Purba</a:t>
            </a:r>
            <a:r>
              <a:rPr lang="en-IN" dirty="0"/>
              <a:t>, M., </a:t>
            </a:r>
            <a:r>
              <a:rPr lang="en-IN" dirty="0" err="1"/>
              <a:t>Ermatita</a:t>
            </a:r>
            <a:r>
              <a:rPr lang="en-IN" dirty="0"/>
              <a:t>, E., </a:t>
            </a:r>
            <a:r>
              <a:rPr lang="en-IN" dirty="0" err="1"/>
              <a:t>Abdiansah</a:t>
            </a:r>
            <a:r>
              <a:rPr lang="en-IN" dirty="0"/>
              <a:t>, A., </a:t>
            </a:r>
            <a:r>
              <a:rPr lang="en-IN" dirty="0" err="1"/>
              <a:t>Noprisson</a:t>
            </a:r>
            <a:r>
              <a:rPr lang="en-IN" dirty="0"/>
              <a:t>, H., Ayumi, V., Salamah, U., Setiawan, H., &amp; Yadi, Y. (2022). </a:t>
            </a:r>
            <a:r>
              <a:rPr lang="en-IN" i="1" dirty="0"/>
              <a:t>Effect of random splitting and cross validation for Indonesian opinion mining using machine learning approach</a:t>
            </a:r>
            <a:r>
              <a:rPr lang="en-IN" dirty="0"/>
              <a:t>. International Journal of Advanced Computer Science and Applications (IJACSA), 13(9), 145–151. </a:t>
            </a:r>
            <a:r>
              <a:rPr lang="en-IN" dirty="0">
                <a:hlinkClick r:id="rId2"/>
              </a:rPr>
              <a:t>https://doi.org/10.14569/IJACSA.2022.0130918</a:t>
            </a:r>
            <a:endParaRPr lang="en-IN" dirty="0">
              <a:effectLst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effectLst/>
              </a:rPr>
              <a:t>Ramesh </a:t>
            </a:r>
            <a:r>
              <a:rPr lang="en-IN" dirty="0" err="1">
                <a:effectLst/>
              </a:rPr>
              <a:t>Chundi</a:t>
            </a:r>
            <a:r>
              <a:rPr lang="en-IN" dirty="0">
                <a:effectLst/>
              </a:rPr>
              <a:t> and Vishwanath R. </a:t>
            </a:r>
            <a:r>
              <a:rPr lang="en-IN" dirty="0" err="1">
                <a:effectLst/>
              </a:rPr>
              <a:t>Hulipalled</a:t>
            </a:r>
            <a:r>
              <a:rPr lang="en-IN" dirty="0">
                <a:effectLst/>
              </a:rPr>
              <a:t>. "SAEKCS: Sentiment Analysis for English - Kannada Code Switch Text Using Deep Learning Techniques." </a:t>
            </a:r>
            <a:r>
              <a:rPr lang="en-IN" i="1" dirty="0">
                <a:effectLst/>
              </a:rPr>
              <a:t>International Conference on Smart Technologies in Computing, Electrical and Electronics (ICSTCEE)</a:t>
            </a:r>
            <a:r>
              <a:rPr lang="en-IN" dirty="0">
                <a:effectLst/>
              </a:rPr>
              <a:t>, 2020.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effectLst/>
              </a:rPr>
              <a:t>G. I. Ahmad, J. Singla, A. Ali, A. A. Reshi, and A. A. Salameh, “Machine Learning Techniques for Sentiment Analysis of Code-Mixed and Switched Indian Social Media Text Corpus: A Comprehensive Review,” </a:t>
            </a:r>
            <a:r>
              <a:rPr lang="en-IN" i="1" dirty="0">
                <a:effectLst/>
              </a:rPr>
              <a:t>International Journal of Advanced Computer Science and Applications (IJACSA)</a:t>
            </a:r>
            <a:r>
              <a:rPr lang="en-IN" dirty="0">
                <a:effectLst/>
              </a:rPr>
              <a:t>, vol. 13, no. 2, pp. 455-467, 2022</a:t>
            </a:r>
          </a:p>
        </p:txBody>
      </p:sp>
    </p:spTree>
    <p:extLst>
      <p:ext uri="{BB962C8B-B14F-4D97-AF65-F5344CB8AC3E}">
        <p14:creationId xmlns:p14="http://schemas.microsoft.com/office/powerpoint/2010/main" val="313466622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2210</TotalTime>
  <Words>2263</Words>
  <Application>Microsoft Office PowerPoint</Application>
  <PresentationFormat>Custom</PresentationFormat>
  <Paragraphs>216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</vt:lpstr>
      <vt:lpstr>Calibri</vt:lpstr>
      <vt:lpstr>Cambria</vt:lpstr>
      <vt:lpstr>Century Gothic</vt:lpstr>
      <vt:lpstr>Courier New</vt:lpstr>
      <vt:lpstr>Times New Roman</vt:lpstr>
      <vt:lpstr>Wingdings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Problem Statement </vt:lpstr>
      <vt:lpstr>PowerPoint Presentation</vt:lpstr>
      <vt:lpstr>PowerPoint Presentation</vt:lpstr>
      <vt:lpstr>PowerPoint Presentation</vt:lpstr>
      <vt:lpstr>Software Requirements </vt:lpstr>
      <vt:lpstr>Proposed System </vt:lpstr>
      <vt:lpstr>Key Features &amp; Innovations </vt:lpstr>
      <vt:lpstr>Benefits  </vt:lpstr>
      <vt:lpstr>PowerPoint Presentation</vt:lpstr>
      <vt:lpstr>Results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Conclusion</vt:lpstr>
      <vt:lpstr>Future Works</vt:lpstr>
      <vt:lpstr>Reference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Doorbell presentation 1.pdf_20231204_172255_0000.pdf</dc:title>
  <dc:creator>Shashanth Shettigar</dc:creator>
  <cp:keywords>DAF2BlM9diQ,BAFXhnxRbv0</cp:keywords>
  <cp:lastModifiedBy>Nikith N</cp:lastModifiedBy>
  <cp:revision>91</cp:revision>
  <dcterms:created xsi:type="dcterms:W3CDTF">2023-12-08T13:49:28Z</dcterms:created>
  <dcterms:modified xsi:type="dcterms:W3CDTF">2025-11-27T04:50:27Z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2023-12-04T16:00:00Z</vt:filetime>
  </property>
  <property fmtid="{D5CDD505-2E9C-101B-9397-08002B2CF9AE}" pid="3" name="Creator">
    <vt:lpwstr>Canva</vt:lpwstr>
  </property>
  <property fmtid="{D5CDD505-2E9C-101B-9397-08002B2CF9AE}" pid="4" name="LastSaved">
    <vt:filetime>2023-12-06T16:00:00Z</vt:filetime>
  </property>
  <property fmtid="{D5CDD505-2E9C-101B-9397-08002B2CF9AE}" pid="5" name="KSOProductBuildVer">
    <vt:lpwstr>1033-5.4.4.8063</vt:lpwstr>
  </property>
</Properties>
</file>