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8163" cy="15087600"/>
  <p:notesSz cx="6858000" cy="9144000"/>
  <p:defaultTextStyle>
    <a:defPPr>
      <a:defRPr lang="en-US"/>
    </a:defPPr>
    <a:lvl1pPr marL="0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94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90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85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79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75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69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65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59" algn="l" defTabSz="45719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3D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301" y="-3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399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1"/>
            <a:ext cx="6400800" cy="17526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3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77723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1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38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3pPr>
            <a:lvl4pPr marL="13716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9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3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5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9" indent="0">
              <a:buNone/>
              <a:defRPr sz="2000" b="1"/>
            </a:lvl2pPr>
            <a:lvl3pPr marL="914438" indent="0">
              <a:buNone/>
              <a:defRPr sz="1800" b="1"/>
            </a:lvl3pPr>
            <a:lvl4pPr marL="1371658" indent="0">
              <a:buNone/>
              <a:defRPr sz="1601" b="1"/>
            </a:lvl4pPr>
            <a:lvl5pPr marL="1828877" indent="0">
              <a:buNone/>
              <a:defRPr sz="1601" b="1"/>
            </a:lvl5pPr>
            <a:lvl6pPr marL="2286096" indent="0">
              <a:buNone/>
              <a:defRPr sz="1601" b="1"/>
            </a:lvl6pPr>
            <a:lvl7pPr marL="2743315" indent="0">
              <a:buNone/>
              <a:defRPr sz="1601" b="1"/>
            </a:lvl7pPr>
            <a:lvl8pPr marL="3200534" indent="0">
              <a:buNone/>
              <a:defRPr sz="1601" b="1"/>
            </a:lvl8pPr>
            <a:lvl9pPr marL="365775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4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9" indent="0">
              <a:buNone/>
              <a:defRPr sz="2000" b="1"/>
            </a:lvl2pPr>
            <a:lvl3pPr marL="914438" indent="0">
              <a:buNone/>
              <a:defRPr sz="1800" b="1"/>
            </a:lvl3pPr>
            <a:lvl4pPr marL="1371658" indent="0">
              <a:buNone/>
              <a:defRPr sz="1601" b="1"/>
            </a:lvl4pPr>
            <a:lvl5pPr marL="1828877" indent="0">
              <a:buNone/>
              <a:defRPr sz="1601" b="1"/>
            </a:lvl5pPr>
            <a:lvl6pPr marL="2286096" indent="0">
              <a:buNone/>
              <a:defRPr sz="1601" b="1"/>
            </a:lvl6pPr>
            <a:lvl7pPr marL="2743315" indent="0">
              <a:buNone/>
              <a:defRPr sz="1601" b="1"/>
            </a:lvl7pPr>
            <a:lvl8pPr marL="3200534" indent="0">
              <a:buNone/>
              <a:defRPr sz="1601" b="1"/>
            </a:lvl8pPr>
            <a:lvl9pPr marL="365775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9" indent="0">
              <a:buNone/>
              <a:defRPr sz="1200"/>
            </a:lvl2pPr>
            <a:lvl3pPr marL="914438" indent="0">
              <a:buNone/>
              <a:defRPr sz="1001"/>
            </a:lvl3pPr>
            <a:lvl4pPr marL="1371658" indent="0">
              <a:buNone/>
              <a:defRPr sz="900"/>
            </a:lvl4pPr>
            <a:lvl5pPr marL="1828877" indent="0">
              <a:buNone/>
              <a:defRPr sz="900"/>
            </a:lvl5pPr>
            <a:lvl6pPr marL="2286096" indent="0">
              <a:buNone/>
              <a:defRPr sz="900"/>
            </a:lvl6pPr>
            <a:lvl7pPr marL="2743315" indent="0">
              <a:buNone/>
              <a:defRPr sz="900"/>
            </a:lvl7pPr>
            <a:lvl8pPr marL="3200534" indent="0">
              <a:buNone/>
              <a:defRPr sz="900"/>
            </a:lvl8pPr>
            <a:lvl9pPr marL="36577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7"/>
            <a:ext cx="54864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19" indent="0">
              <a:buNone/>
              <a:defRPr sz="2800"/>
            </a:lvl2pPr>
            <a:lvl3pPr marL="914438" indent="0">
              <a:buNone/>
              <a:defRPr sz="2400"/>
            </a:lvl3pPr>
            <a:lvl4pPr marL="1371658" indent="0">
              <a:buNone/>
              <a:defRPr sz="2000"/>
            </a:lvl4pPr>
            <a:lvl5pPr marL="1828877" indent="0">
              <a:buNone/>
              <a:defRPr sz="2000"/>
            </a:lvl5pPr>
            <a:lvl6pPr marL="2286096" indent="0">
              <a:buNone/>
              <a:defRPr sz="2000"/>
            </a:lvl6pPr>
            <a:lvl7pPr marL="2743315" indent="0">
              <a:buNone/>
              <a:defRPr sz="2000"/>
            </a:lvl7pPr>
            <a:lvl8pPr marL="3200534" indent="0">
              <a:buNone/>
              <a:defRPr sz="2000"/>
            </a:lvl8pPr>
            <a:lvl9pPr marL="365775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9" indent="0">
              <a:buNone/>
              <a:defRPr sz="1200"/>
            </a:lvl2pPr>
            <a:lvl3pPr marL="914438" indent="0">
              <a:buNone/>
              <a:defRPr sz="1001"/>
            </a:lvl3pPr>
            <a:lvl4pPr marL="1371658" indent="0">
              <a:buNone/>
              <a:defRPr sz="900"/>
            </a:lvl4pPr>
            <a:lvl5pPr marL="1828877" indent="0">
              <a:buNone/>
              <a:defRPr sz="900"/>
            </a:lvl5pPr>
            <a:lvl6pPr marL="2286096" indent="0">
              <a:buNone/>
              <a:defRPr sz="900"/>
            </a:lvl6pPr>
            <a:lvl7pPr marL="2743315" indent="0">
              <a:buNone/>
              <a:defRPr sz="900"/>
            </a:lvl7pPr>
            <a:lvl8pPr marL="3200534" indent="0">
              <a:buNone/>
              <a:defRPr sz="900"/>
            </a:lvl8pPr>
            <a:lvl9pPr marL="36577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1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1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15" indent="-342915" algn="l" defTabSz="45721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81" indent="-285762" algn="l" defTabSz="45721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9" indent="-228610" algn="l" defTabSz="45721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68" indent="-228610" algn="l" defTabSz="45721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87" indent="-228610" algn="l" defTabSz="45721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06" indent="-228610" algn="l" defTabSz="45721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25" indent="-228610" algn="l" defTabSz="45721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45" indent="-228610" algn="l" defTabSz="45721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64" indent="-228610" algn="l" defTabSz="45721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9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8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8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7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6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15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34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54" algn="l" defTabSz="4572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7351" y="396295"/>
            <a:ext cx="68169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rPr lang="en-US" sz="3200" dirty="0">
                <a:solidFill>
                  <a:srgbClr val="B13D16"/>
                </a:solidFill>
              </a:rPr>
              <a:t>YENEPOYA INSTITUTE OF TECHNOLOGY</a:t>
            </a:r>
            <a:endParaRPr sz="3200" dirty="0">
              <a:solidFill>
                <a:srgbClr val="B13D1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811" y="3563470"/>
            <a:ext cx="3474963" cy="28315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rPr lang="en-US" sz="2400" dirty="0">
                <a:solidFill>
                  <a:srgbClr val="B13D16"/>
                </a:solidFill>
              </a:rPr>
              <a:t>ABSTRACT</a:t>
            </a:r>
          </a:p>
          <a:p>
            <a:r>
              <a:rPr lang="en-US" sz="1400" b="1" dirty="0"/>
              <a:t>System</a:t>
            </a:r>
            <a:r>
              <a:rPr lang="en-US" sz="1400" dirty="0"/>
              <a:t>: “Kannada sentiment Analysis Model" – A Kannada Emotion Classification System.</a:t>
            </a:r>
          </a:p>
          <a:p>
            <a:r>
              <a:rPr lang="en-US" sz="1400" b="1" dirty="0"/>
              <a:t>Tech</a:t>
            </a:r>
            <a:r>
              <a:rPr lang="en-US" sz="1400" dirty="0"/>
              <a:t>: Powered by </a:t>
            </a:r>
            <a:r>
              <a:rPr lang="en-US" sz="1400" b="1" dirty="0"/>
              <a:t>XLM-Roberta</a:t>
            </a:r>
            <a:r>
              <a:rPr lang="en-US" sz="1400" dirty="0"/>
              <a:t> for high accuracy.</a:t>
            </a:r>
          </a:p>
          <a:p>
            <a:r>
              <a:rPr lang="en-US" sz="1400" b="1" dirty="0"/>
              <a:t>Emotions</a:t>
            </a:r>
            <a:r>
              <a:rPr lang="en-US" sz="1400" dirty="0"/>
              <a:t>: Detects Joy, Sadness, Anger, Fear, and Neutral.</a:t>
            </a:r>
          </a:p>
          <a:p>
            <a:r>
              <a:rPr lang="en-US" sz="1400" b="1" dirty="0"/>
              <a:t>Goal</a:t>
            </a:r>
            <a:r>
              <a:rPr lang="en-US" sz="1400" dirty="0"/>
              <a:t>: Solves the lack of regional NLP tools using a custom dataset.</a:t>
            </a:r>
          </a:p>
          <a:p>
            <a:r>
              <a:rPr lang="en-US" sz="1400" b="1" dirty="0"/>
              <a:t>Usage</a:t>
            </a:r>
            <a:r>
              <a:rPr lang="en-US" sz="1400" dirty="0"/>
              <a:t>: Real-time web UI for customer support and sentiment analysis.</a:t>
            </a:r>
            <a:endParaRPr lang="en-US" sz="2400" dirty="0">
              <a:solidFill>
                <a:srgbClr val="B13D1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99622" y="6358328"/>
            <a:ext cx="3337940" cy="37856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rPr lang="en-US" sz="2400" dirty="0">
                <a:solidFill>
                  <a:srgbClr val="B13D16"/>
                </a:solidFill>
              </a:rPr>
              <a:t>Proposed Method</a:t>
            </a:r>
            <a:endParaRPr sz="2400" dirty="0">
              <a:solidFill>
                <a:srgbClr val="B13D16"/>
              </a:solidFill>
            </a:endParaRPr>
          </a:p>
          <a:p>
            <a:r>
              <a:rPr lang="en-US" b="1" dirty="0"/>
              <a:t>Model</a:t>
            </a:r>
            <a:r>
              <a:rPr lang="en-US" dirty="0"/>
              <a:t>: Uses </a:t>
            </a:r>
            <a:r>
              <a:rPr lang="en-US" b="1" dirty="0"/>
              <a:t>XLM-Roberta</a:t>
            </a:r>
            <a:r>
              <a:rPr lang="en-US" dirty="0"/>
              <a:t> for robust multilingual support.</a:t>
            </a:r>
          </a:p>
          <a:p>
            <a:r>
              <a:rPr lang="en-US" b="1" dirty="0"/>
              <a:t>Tokenizer</a:t>
            </a:r>
            <a:r>
              <a:rPr lang="en-US" dirty="0"/>
              <a:t>: Applies </a:t>
            </a:r>
            <a:r>
              <a:rPr lang="en-US" b="1" dirty="0" err="1"/>
              <a:t>SentencePiece</a:t>
            </a:r>
            <a:r>
              <a:rPr lang="en-US" dirty="0"/>
              <a:t> to handle Kannada text structure.</a:t>
            </a:r>
          </a:p>
          <a:p>
            <a:r>
              <a:rPr lang="en-US" b="1" dirty="0"/>
              <a:t>Training</a:t>
            </a:r>
            <a:r>
              <a:rPr lang="en-US" dirty="0"/>
              <a:t>: Fine-tunes the base model on a custom augmented dataset.</a:t>
            </a:r>
          </a:p>
          <a:p>
            <a:r>
              <a:rPr lang="en-US" b="1" dirty="0"/>
              <a:t>Output</a:t>
            </a:r>
            <a:r>
              <a:rPr lang="en-US" dirty="0"/>
              <a:t>: Classifies text into 5 emotions via a dense layer.</a:t>
            </a:r>
          </a:p>
          <a:p>
            <a:r>
              <a:rPr lang="en-US" b="1" dirty="0"/>
              <a:t>Optimization</a:t>
            </a:r>
            <a:r>
              <a:rPr lang="en-US" dirty="0"/>
              <a:t>: Uses </a:t>
            </a:r>
            <a:r>
              <a:rPr lang="en-US" b="1" dirty="0" err="1"/>
              <a:t>AdamW</a:t>
            </a:r>
            <a:r>
              <a:rPr lang="en-US" dirty="0"/>
              <a:t> and Cross-Entropy Loss for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4632" y="3560862"/>
            <a:ext cx="3123985" cy="34778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rPr sz="2400" dirty="0">
                <a:solidFill>
                  <a:srgbClr val="B13D16"/>
                </a:solidFill>
              </a:rPr>
              <a:t>METHODOLOGY</a:t>
            </a:r>
          </a:p>
          <a:p>
            <a:r>
              <a:rPr lang="en-IN" sz="1400" b="1" dirty="0" err="1"/>
              <a:t>Data:</a:t>
            </a:r>
            <a:r>
              <a:rPr lang="en-IN" sz="1400" dirty="0" err="1"/>
              <a:t>Curated</a:t>
            </a:r>
            <a:r>
              <a:rPr lang="en-IN" sz="1400" dirty="0"/>
              <a:t> 10k+ </a:t>
            </a:r>
            <a:r>
              <a:rPr lang="en-IN" sz="1400" dirty="0" err="1"/>
              <a:t>labeled</a:t>
            </a:r>
            <a:r>
              <a:rPr lang="en-IN" sz="1400" dirty="0"/>
              <a:t> Kannada sentences.</a:t>
            </a:r>
          </a:p>
          <a:p>
            <a:r>
              <a:rPr lang="en-IN" sz="1400" b="1" dirty="0"/>
              <a:t>Augmentation:</a:t>
            </a:r>
            <a:r>
              <a:rPr lang="en-IN" sz="1400" dirty="0"/>
              <a:t> Generated synthetic data using keywords (e.g., "</a:t>
            </a:r>
            <a:r>
              <a:rPr lang="kn-IN" sz="1400" dirty="0"/>
              <a:t>ಹಸಿವು", "ಕೆಟ್ಟ") </a:t>
            </a:r>
            <a:r>
              <a:rPr lang="en-IN" sz="1400" dirty="0"/>
              <a:t>to balance classes and improve short-text accuracy.</a:t>
            </a:r>
          </a:p>
          <a:p>
            <a:r>
              <a:rPr lang="en-IN" sz="1400" b="1" dirty="0" err="1"/>
              <a:t>Model:Architecture</a:t>
            </a:r>
            <a:r>
              <a:rPr lang="en-IN" sz="1400" b="1" dirty="0"/>
              <a:t>:</a:t>
            </a:r>
            <a:r>
              <a:rPr lang="en-IN" sz="1400" dirty="0"/>
              <a:t> XLM-Roberta-Base (Pre-trained Multilingual Transformer).</a:t>
            </a:r>
          </a:p>
          <a:p>
            <a:r>
              <a:rPr lang="en-IN" sz="1400" b="1" dirty="0"/>
              <a:t>Training:</a:t>
            </a:r>
            <a:r>
              <a:rPr lang="en-IN" sz="1400" dirty="0"/>
              <a:t> Fine-tuned for 3 epochs (</a:t>
            </a:r>
            <a:r>
              <a:rPr lang="en-IN" sz="1400" dirty="0" err="1"/>
              <a:t>AdamW</a:t>
            </a:r>
            <a:r>
              <a:rPr lang="en-IN" sz="1400" dirty="0"/>
              <a:t> optimizer, Cross-Entropy Loss).</a:t>
            </a:r>
          </a:p>
          <a:p>
            <a:r>
              <a:rPr lang="en-IN" sz="1400" b="1" dirty="0"/>
              <a:t>Deployment: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Backend:</a:t>
            </a:r>
            <a:r>
              <a:rPr lang="en-IN" sz="1400" dirty="0"/>
              <a:t> Python &amp; </a:t>
            </a:r>
            <a:r>
              <a:rPr lang="en-IN" sz="1400" dirty="0" err="1"/>
              <a:t>PyTorch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Frontend:</a:t>
            </a:r>
            <a:r>
              <a:rPr lang="en-IN" sz="1400" dirty="0"/>
              <a:t> Flask Web App with a responsive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812" y="11370212"/>
            <a:ext cx="3468543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rPr sz="2400" dirty="0">
                <a:solidFill>
                  <a:srgbClr val="B13D16"/>
                </a:solidFill>
              </a:rPr>
              <a:t>RESU</a:t>
            </a:r>
            <a:r>
              <a:rPr lang="en-IN" sz="2400" dirty="0">
                <a:solidFill>
                  <a:srgbClr val="B13D16"/>
                </a:solidFill>
              </a:rPr>
              <a:t>LTS</a:t>
            </a:r>
          </a:p>
          <a:p>
            <a:r>
              <a:rPr lang="en-IN" sz="1400" b="1" dirty="0"/>
              <a:t>Accuracy:</a:t>
            </a:r>
            <a:r>
              <a:rPr lang="en-IN" sz="1400" dirty="0"/>
              <a:t> Achieved </a:t>
            </a:r>
            <a:r>
              <a:rPr lang="en-IN" sz="1400" b="1" dirty="0"/>
              <a:t>~99%</a:t>
            </a:r>
            <a:r>
              <a:rPr lang="en-IN" sz="1400" dirty="0"/>
              <a:t> accuracy on test data.</a:t>
            </a:r>
          </a:p>
          <a:p>
            <a:r>
              <a:rPr lang="en-IN" sz="1400" b="1" dirty="0"/>
              <a:t>Performance:</a:t>
            </a:r>
            <a:r>
              <a:rPr lang="en-IN" sz="1400" dirty="0"/>
              <a:t> High confidence on short phrases (e.g., "</a:t>
            </a:r>
            <a:r>
              <a:rPr lang="kn-IN" sz="1400" dirty="0"/>
              <a:t>ನನಗೆ ಖುಷಿ" </a:t>
            </a:r>
            <a:r>
              <a:rPr lang="en-IN" sz="1400" dirty="0"/>
              <a:t>Joy: 99%).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572" y="12881941"/>
            <a:ext cx="3495166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rPr sz="2400" dirty="0">
                <a:solidFill>
                  <a:srgbClr val="B13D16"/>
                </a:solidFill>
              </a:rPr>
              <a:t>FUTURE WORK</a:t>
            </a:r>
          </a:p>
          <a:p>
            <a:r>
              <a:rPr lang="en-ZW" sz="1400" b="1" dirty="0"/>
              <a:t>Speech Integration:</a:t>
            </a:r>
            <a:r>
              <a:rPr lang="en-ZW" sz="1400" dirty="0"/>
              <a:t> Add Speech-to-Text for voice input.</a:t>
            </a:r>
          </a:p>
          <a:p>
            <a:r>
              <a:rPr lang="en-ZW" sz="1400" b="1" dirty="0"/>
              <a:t>More Emotions:</a:t>
            </a:r>
            <a:r>
              <a:rPr lang="en-ZW" sz="1400" dirty="0"/>
              <a:t> Expand to include Surprise, Disgust, etc.</a:t>
            </a:r>
          </a:p>
          <a:p>
            <a:r>
              <a:rPr lang="en-ZW" sz="1400" b="1" dirty="0"/>
              <a:t>Mobile App:</a:t>
            </a:r>
            <a:r>
              <a:rPr lang="en-ZW" sz="1400" dirty="0"/>
              <a:t> Develop a standalone Android/iOS application</a:t>
            </a:r>
            <a:r>
              <a:rPr lang="en-ZW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D38790-8C1E-8D25-A104-9325A7568165}"/>
              </a:ext>
            </a:extLst>
          </p:cNvPr>
          <p:cNvSpPr txBox="1"/>
          <p:nvPr/>
        </p:nvSpPr>
        <p:spPr>
          <a:xfrm>
            <a:off x="160811" y="6695037"/>
            <a:ext cx="3475927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B13D16"/>
                </a:solidFill>
              </a:rPr>
              <a:t>SYSTEM REQUIREMENTS</a:t>
            </a:r>
          </a:p>
          <a:p>
            <a:r>
              <a:rPr lang="en-IN" sz="1400" dirty="0"/>
              <a:t>Hardware: Intel i5+, 8GB RAM, NVIDIA GPU (Optional for inference).</a:t>
            </a:r>
          </a:p>
          <a:p>
            <a:r>
              <a:rPr lang="en-IN" sz="1400" dirty="0"/>
              <a:t>Software: Windows/Linux, Python 3.8+, </a:t>
            </a:r>
            <a:r>
              <a:rPr lang="en-IN" sz="1400" dirty="0" err="1"/>
              <a:t>PyTorch</a:t>
            </a:r>
            <a:r>
              <a:rPr lang="en-IN" sz="1400" dirty="0"/>
              <a:t>, Transformers, Flask.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5FC4D7-45C8-BFB3-AF70-A0AE6624F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734" y="7975252"/>
            <a:ext cx="3191780" cy="2106493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9FACCD-072D-C928-6F00-84499C99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434" y="10855898"/>
            <a:ext cx="3013536" cy="38737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F318AE-C15E-BBAF-8539-CFF861969C08}"/>
              </a:ext>
            </a:extLst>
          </p:cNvPr>
          <p:cNvSpPr txBox="1"/>
          <p:nvPr/>
        </p:nvSpPr>
        <p:spPr>
          <a:xfrm>
            <a:off x="308986" y="2246308"/>
            <a:ext cx="3198143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baseline="-25000" dirty="0">
                <a:solidFill>
                  <a:srgbClr val="B13D16"/>
                </a:solidFill>
              </a:rPr>
              <a:t>GROUP MEMBERS NAME AND USN</a:t>
            </a:r>
            <a:endParaRPr lang="en-US" sz="1600" baseline="-25000" dirty="0">
              <a:solidFill>
                <a:srgbClr val="B13D16"/>
              </a:solidFill>
            </a:endParaRPr>
          </a:p>
          <a:p>
            <a:r>
              <a:rPr lang="en-US" sz="2000" b="1" i="1" baseline="-25000" dirty="0">
                <a:solidFill>
                  <a:srgbClr val="B13D16"/>
                </a:solidFill>
              </a:rPr>
              <a:t>NAVEEN KATTI – 4DM23IS031</a:t>
            </a:r>
          </a:p>
          <a:p>
            <a:r>
              <a:rPr lang="en-US" sz="2000" b="1" i="1" baseline="-25000" dirty="0">
                <a:solidFill>
                  <a:srgbClr val="B13D16"/>
                </a:solidFill>
              </a:rPr>
              <a:t>NIKITH N           - 4DM23IS032</a:t>
            </a:r>
          </a:p>
          <a:p>
            <a:r>
              <a:rPr lang="en-US" sz="2000" b="1" i="1" baseline="-25000" dirty="0">
                <a:solidFill>
                  <a:srgbClr val="B13D16"/>
                </a:solidFill>
              </a:rPr>
              <a:t>PREM GOUDA – 4DM23IS035</a:t>
            </a:r>
          </a:p>
          <a:p>
            <a:r>
              <a:rPr lang="en-US" sz="2000" b="1" i="1" baseline="-25000" dirty="0">
                <a:solidFill>
                  <a:srgbClr val="B13D16"/>
                </a:solidFill>
              </a:rPr>
              <a:t>SUMANTH T P – 4DM23IS056</a:t>
            </a:r>
            <a:endParaRPr lang="en-IN" sz="2000" b="1" i="1" baseline="-25000" dirty="0">
              <a:solidFill>
                <a:srgbClr val="B13D1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56BC20-8415-7520-955F-456E88187423}"/>
              </a:ext>
            </a:extLst>
          </p:cNvPr>
          <p:cNvSpPr txBox="1"/>
          <p:nvPr/>
        </p:nvSpPr>
        <p:spPr>
          <a:xfrm>
            <a:off x="154543" y="8302995"/>
            <a:ext cx="3474812" cy="28315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B13D16"/>
                </a:solidFill>
              </a:rPr>
              <a:t>CONCLUSION</a:t>
            </a:r>
            <a:endParaRPr lang="en-IN" sz="2400" dirty="0">
              <a:solidFill>
                <a:srgbClr val="B13D16"/>
              </a:solidFill>
            </a:endParaRPr>
          </a:p>
          <a:p>
            <a:r>
              <a:rPr lang="en-IN" sz="1400" dirty="0"/>
              <a:t>The "Kannada Emotion Classifier" successfully demonstrates the power of transfer learning for regional languages. By fine-tuning XLM-Roberta, we achieved state-of-the-art performance in detecting emotions from Kannada text. The system is robust, handling various sentence lengths and vocabulary effectively. The web-based deployment ensures that this technology is accessible and usable, marking a significant step forward in Kannada NLP.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56629-25BE-D11F-71D5-83CAB32CC4EE}"/>
              </a:ext>
            </a:extLst>
          </p:cNvPr>
          <p:cNvSpPr txBox="1"/>
          <p:nvPr/>
        </p:nvSpPr>
        <p:spPr>
          <a:xfrm>
            <a:off x="2732015" y="892983"/>
            <a:ext cx="4947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Thodar, Moodbidri – 574225, Mangalore, D.K</a:t>
            </a:r>
          </a:p>
          <a:p>
            <a:pPr algn="ctr"/>
            <a:r>
              <a:rPr lang="en-US" sz="1400" dirty="0"/>
              <a:t>Department of Information Science and Engineering</a:t>
            </a:r>
            <a:endParaRPr lang="en-IN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13B70C1-FF10-696B-8A4F-9BF7D6DAD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16" y="63361"/>
            <a:ext cx="1486597" cy="14865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21FE1DF-89F2-B0A3-0BC2-36DA0BB7A0AB}"/>
              </a:ext>
            </a:extLst>
          </p:cNvPr>
          <p:cNvSpPr txBox="1"/>
          <p:nvPr/>
        </p:nvSpPr>
        <p:spPr>
          <a:xfrm>
            <a:off x="7953481" y="2502788"/>
            <a:ext cx="2310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B13D16"/>
                </a:solidFill>
              </a:rPr>
              <a:t>Guided by:</a:t>
            </a:r>
          </a:p>
          <a:p>
            <a:r>
              <a:rPr lang="en-US" b="1" i="1" dirty="0" err="1">
                <a:solidFill>
                  <a:srgbClr val="B13D16"/>
                </a:solidFill>
              </a:rPr>
              <a:t>Prof.Manish</a:t>
            </a:r>
            <a:r>
              <a:rPr lang="en-US" b="1" i="1" dirty="0">
                <a:solidFill>
                  <a:srgbClr val="B13D16"/>
                </a:solidFill>
              </a:rPr>
              <a:t> Prajapati</a:t>
            </a:r>
            <a:endParaRPr lang="en-IN" b="1" i="1" dirty="0">
              <a:solidFill>
                <a:srgbClr val="B13D1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B088D7-EE6F-992A-EFA1-73F76DEBBC6C}"/>
              </a:ext>
            </a:extLst>
          </p:cNvPr>
          <p:cNvSpPr txBox="1"/>
          <p:nvPr/>
        </p:nvSpPr>
        <p:spPr>
          <a:xfrm>
            <a:off x="1252732" y="1535552"/>
            <a:ext cx="8218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W" sz="2400" b="1" i="1" dirty="0">
                <a:solidFill>
                  <a:schemeClr val="accent1"/>
                </a:solidFill>
              </a:rPr>
              <a:t>“Developing XLM-</a:t>
            </a:r>
            <a:r>
              <a:rPr lang="en-US" sz="2400" b="1" i="1" dirty="0" err="1">
                <a:solidFill>
                  <a:schemeClr val="accent1"/>
                </a:solidFill>
              </a:rPr>
              <a:t>RoBERTa</a:t>
            </a:r>
            <a:r>
              <a:rPr lang="en-ZW" sz="2400" b="1" i="1" dirty="0">
                <a:solidFill>
                  <a:schemeClr val="accent1"/>
                </a:solidFill>
              </a:rPr>
              <a:t> Sentiment Analysis Models for Kannada: Addressing Low-Resource Language”</a:t>
            </a:r>
            <a:endParaRPr lang="en-IN" sz="2400" b="1" i="1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457E6C-69BA-CE20-A619-37A91DA0AF1A}"/>
              </a:ext>
            </a:extLst>
          </p:cNvPr>
          <p:cNvSpPr txBox="1"/>
          <p:nvPr/>
        </p:nvSpPr>
        <p:spPr>
          <a:xfrm>
            <a:off x="8711984" y="670529"/>
            <a:ext cx="1986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Project Exhibition</a:t>
            </a:r>
          </a:p>
          <a:p>
            <a:r>
              <a:rPr lang="en-US" b="1" i="1" dirty="0">
                <a:solidFill>
                  <a:schemeClr val="accent1"/>
                </a:solidFill>
              </a:rPr>
              <a:t>Dec-2025</a:t>
            </a:r>
            <a:endParaRPr lang="en-IN" b="1" i="1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0252D-301A-F52D-6B1F-C8F1BB16C8B9}"/>
              </a:ext>
            </a:extLst>
          </p:cNvPr>
          <p:cNvSpPr txBox="1"/>
          <p:nvPr/>
        </p:nvSpPr>
        <p:spPr>
          <a:xfrm>
            <a:off x="4597809" y="10281873"/>
            <a:ext cx="1874787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13D16"/>
                </a:solidFill>
              </a:rPr>
              <a:t>FLOWCHART</a:t>
            </a:r>
            <a:endParaRPr lang="en-IN" sz="2400" b="1" dirty="0">
              <a:solidFill>
                <a:srgbClr val="B13D1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D9754-DCD0-76D6-6FBC-8778641AF016}"/>
              </a:ext>
            </a:extLst>
          </p:cNvPr>
          <p:cNvSpPr txBox="1"/>
          <p:nvPr/>
        </p:nvSpPr>
        <p:spPr>
          <a:xfrm>
            <a:off x="7967285" y="7312967"/>
            <a:ext cx="2058678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13D16"/>
                </a:solidFill>
              </a:rPr>
              <a:t>SNAPSHOTS</a:t>
            </a:r>
            <a:endParaRPr lang="en-IN" sz="2400" b="1" dirty="0">
              <a:solidFill>
                <a:srgbClr val="B13D16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EB59FE0-1FF0-52A5-76C7-98DE8ADC3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7896" y="10255268"/>
            <a:ext cx="3174618" cy="2106493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5C11DA9-18E2-D910-F9CD-B09FA419C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734" y="12584812"/>
            <a:ext cx="3191566" cy="2106493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9297B4-DEAC-58C1-5A20-2FDC1130F392}"/>
              </a:ext>
            </a:extLst>
          </p:cNvPr>
          <p:cNvSpPr txBox="1"/>
          <p:nvPr/>
        </p:nvSpPr>
        <p:spPr>
          <a:xfrm>
            <a:off x="3852269" y="3567522"/>
            <a:ext cx="3365868" cy="26161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B13D16"/>
                </a:solidFill>
              </a:rPr>
              <a:t>Introduction</a:t>
            </a:r>
          </a:p>
          <a:p>
            <a:r>
              <a:rPr lang="en-IN" sz="1400" dirty="0"/>
              <a:t>Emotion recognition is vital for AI-human interaction. While English tools abound, Kannada lacks robust resources. This project fine-tunes the </a:t>
            </a:r>
            <a:r>
              <a:rPr lang="en-IN" sz="1400" b="1" dirty="0"/>
              <a:t>XLM-Roberta</a:t>
            </a:r>
            <a:r>
              <a:rPr lang="en-IN" sz="1400" dirty="0"/>
              <a:t> model on a curated dataset of 10,000+ Kannada sentences. It goes beyond literal translation to capture emotional nuance, enabling applications in mental health monitoring and social media analysis for Karnataka's population.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355</TotalTime>
  <Words>491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Nikith N</dc:creator>
  <cp:keywords/>
  <dc:description>generated using python-pptx</dc:description>
  <cp:lastModifiedBy>Prem Gouda</cp:lastModifiedBy>
  <cp:revision>15</cp:revision>
  <dcterms:created xsi:type="dcterms:W3CDTF">2013-01-27T09:14:16Z</dcterms:created>
  <dcterms:modified xsi:type="dcterms:W3CDTF">2025-11-26T14:06:21Z</dcterms:modified>
  <cp:category/>
</cp:coreProperties>
</file>